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cover_background.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0" y="0"/>
            <a:ext cx="12191695" cy="6858000"/>
          </a:xfrm>
          <a:prstGeom prst="roundRect">
            <a:avLst/>
          </a:prstGeom>
          <a:solidFill>
            <a:srgbClr val="0F172A">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371600"/>
            <a:ext cx="12191695" cy="365760"/>
          </a:xfrm>
          <a:prstGeom prst="rect">
            <a:avLst/>
          </a:prstGeom>
          <a:noFill/>
        </p:spPr>
        <p:txBody>
          <a:bodyPr wrap="square">
            <a:spAutoFit/>
          </a:bodyPr>
          <a:lstStyle/>
          <a:p>
            <a:pPr algn="ctr"/>
            <a:r>
              <a:rPr sz="1200" b="1" i="0">
                <a:solidFill>
                  <a:srgbClr val="10B981"/>
                </a:solidFill>
                <a:latin typeface="Outfit"/>
              </a:rPr>
              <a:t>YUVA YODHA ENERGY TECH HACKATHON 2026</a:t>
            </a:r>
          </a:p>
        </p:txBody>
      </p:sp>
      <p:sp>
        <p:nvSpPr>
          <p:cNvPr id="5" name="TextBox 4"/>
          <p:cNvSpPr txBox="1"/>
          <p:nvPr/>
        </p:nvSpPr>
        <p:spPr>
          <a:xfrm>
            <a:off x="1371600" y="2011680"/>
            <a:ext cx="9418320" cy="1188720"/>
          </a:xfrm>
          <a:prstGeom prst="rect">
            <a:avLst/>
          </a:prstGeom>
          <a:noFill/>
        </p:spPr>
        <p:txBody>
          <a:bodyPr wrap="square">
            <a:spAutoFit/>
          </a:bodyPr>
          <a:lstStyle/>
          <a:p>
            <a:pPr algn="ctr"/>
            <a:r>
              <a:rPr sz="5600" b="1" i="0">
                <a:solidFill>
                  <a:srgbClr val="F1F5F9"/>
                </a:solidFill>
                <a:latin typeface="Outfit"/>
              </a:rPr>
              <a:t>KISAN </a:t>
            </a:r>
            <a:r>
              <a:rPr sz="5600" b="1" i="0">
                <a:solidFill>
                  <a:srgbClr val="F59E0B"/>
                </a:solidFill>
                <a:latin typeface="Outfit"/>
              </a:rPr>
              <a:t>URJA</a:t>
            </a:r>
          </a:p>
        </p:txBody>
      </p:sp>
      <p:sp>
        <p:nvSpPr>
          <p:cNvPr id="6" name="TextBox 5"/>
          <p:cNvSpPr txBox="1"/>
          <p:nvPr/>
        </p:nvSpPr>
        <p:spPr>
          <a:xfrm>
            <a:off x="0" y="3017520"/>
            <a:ext cx="12191695" cy="640080"/>
          </a:xfrm>
          <a:prstGeom prst="rect">
            <a:avLst/>
          </a:prstGeom>
          <a:noFill/>
        </p:spPr>
        <p:txBody>
          <a:bodyPr wrap="square">
            <a:spAutoFit/>
          </a:bodyPr>
          <a:lstStyle/>
          <a:p>
            <a:pPr algn="ctr"/>
            <a:r>
              <a:rPr sz="2800" b="1" i="0">
                <a:solidFill>
                  <a:srgbClr val="94A3B8"/>
                </a:solidFill>
                <a:latin typeface="Noto Sans Devanagari"/>
              </a:rPr>
              <a:t>किसान ऊर्जा</a:t>
            </a:r>
          </a:p>
        </p:txBody>
      </p:sp>
      <p:sp>
        <p:nvSpPr>
          <p:cNvPr id="7" name="Rectangle 6"/>
          <p:cNvSpPr/>
          <p:nvPr/>
        </p:nvSpPr>
        <p:spPr>
          <a:xfrm>
            <a:off x="5394960" y="3703320"/>
            <a:ext cx="13716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3931920"/>
            <a:ext cx="9418320" cy="548640"/>
          </a:xfrm>
          <a:prstGeom prst="rect">
            <a:avLst/>
          </a:prstGeom>
          <a:noFill/>
        </p:spPr>
        <p:txBody>
          <a:bodyPr wrap="square">
            <a:spAutoFit/>
          </a:bodyPr>
          <a:lstStyle/>
          <a:p>
            <a:pPr algn="ctr"/>
            <a:r>
              <a:rPr sz="1800" b="0" i="0">
                <a:solidFill>
                  <a:srgbClr val="94A3B8"/>
                </a:solidFill>
                <a:latin typeface="Outfit"/>
              </a:rPr>
              <a:t>Autonomous Agricultural Intelligence &amp; Solar Irrigation Platform</a:t>
            </a:r>
          </a:p>
        </p:txBody>
      </p:sp>
      <p:sp>
        <p:nvSpPr>
          <p:cNvPr id="9" name="TextBox 8"/>
          <p:cNvSpPr txBox="1"/>
          <p:nvPr/>
        </p:nvSpPr>
        <p:spPr>
          <a:xfrm>
            <a:off x="1371600" y="4572000"/>
            <a:ext cx="9418320" cy="457200"/>
          </a:xfrm>
          <a:prstGeom prst="rect">
            <a:avLst/>
          </a:prstGeom>
          <a:noFill/>
        </p:spPr>
        <p:txBody>
          <a:bodyPr wrap="square">
            <a:spAutoFit/>
          </a:bodyPr>
          <a:lstStyle/>
          <a:p>
            <a:pPr algn="ctr"/>
            <a:r>
              <a:rPr sz="1400" b="0" i="1">
                <a:solidFill>
                  <a:srgbClr val="64748B"/>
                </a:solidFill>
                <a:latin typeface="Plus Jakarta Sans"/>
              </a:rPr>
              <a:t>"Connecting crop water intelligence with solar-powered irrigation."</a:t>
            </a:r>
          </a:p>
        </p:txBody>
      </p:sp>
      <p:sp>
        <p:nvSpPr>
          <p:cNvPr id="10" name="Rounded Rectangle 9"/>
          <p:cNvSpPr/>
          <p:nvPr/>
        </p:nvSpPr>
        <p:spPr>
          <a:xfrm>
            <a:off x="2743200" y="5120640"/>
            <a:ext cx="2011680" cy="365760"/>
          </a:xfrm>
          <a:prstGeom prst="roundRect">
            <a:avLst/>
          </a:prstGeom>
          <a:solidFill>
            <a:srgbClr val="142E2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5120640"/>
            <a:ext cx="2011680" cy="365760"/>
          </a:xfrm>
          <a:prstGeom prst="rect">
            <a:avLst/>
          </a:prstGeom>
          <a:noFill/>
        </p:spPr>
        <p:txBody>
          <a:bodyPr wrap="square">
            <a:spAutoFit/>
          </a:bodyPr>
          <a:lstStyle/>
          <a:p>
            <a:pPr algn="ctr"/>
            <a:r>
              <a:rPr sz="1000" b="1" i="0">
                <a:solidFill>
                  <a:srgbClr val="34D399"/>
                </a:solidFill>
                <a:latin typeface="Outfit"/>
              </a:rPr>
              <a:t>☀️ Solar-Synchronized</a:t>
            </a:r>
          </a:p>
        </p:txBody>
      </p:sp>
      <p:sp>
        <p:nvSpPr>
          <p:cNvPr id="12" name="Rounded Rectangle 11"/>
          <p:cNvSpPr/>
          <p:nvPr/>
        </p:nvSpPr>
        <p:spPr>
          <a:xfrm>
            <a:off x="5029200" y="5120640"/>
            <a:ext cx="2011680" cy="365760"/>
          </a:xfrm>
          <a:prstGeom prst="roundRect">
            <a:avLst/>
          </a:prstGeom>
          <a:solidFill>
            <a:srgbClr val="142E2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5120640"/>
            <a:ext cx="2011680" cy="365760"/>
          </a:xfrm>
          <a:prstGeom prst="rect">
            <a:avLst/>
          </a:prstGeom>
          <a:noFill/>
        </p:spPr>
        <p:txBody>
          <a:bodyPr wrap="square">
            <a:spAutoFit/>
          </a:bodyPr>
          <a:lstStyle/>
          <a:p>
            <a:pPr algn="ctr"/>
            <a:r>
              <a:rPr sz="1000" b="1" i="0">
                <a:solidFill>
                  <a:srgbClr val="34D399"/>
                </a:solidFill>
                <a:latin typeface="Outfit"/>
              </a:rPr>
              <a:t>🌾 FAO-56 Physics</a:t>
            </a:r>
          </a:p>
        </p:txBody>
      </p:sp>
      <p:sp>
        <p:nvSpPr>
          <p:cNvPr id="14" name="Rounded Rectangle 13"/>
          <p:cNvSpPr/>
          <p:nvPr/>
        </p:nvSpPr>
        <p:spPr>
          <a:xfrm>
            <a:off x="7315200" y="5120640"/>
            <a:ext cx="2011680" cy="365760"/>
          </a:xfrm>
          <a:prstGeom prst="roundRect">
            <a:avLst/>
          </a:prstGeom>
          <a:solidFill>
            <a:srgbClr val="142E22"/>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5120640"/>
            <a:ext cx="2011680" cy="365760"/>
          </a:xfrm>
          <a:prstGeom prst="rect">
            <a:avLst/>
          </a:prstGeom>
          <a:noFill/>
        </p:spPr>
        <p:txBody>
          <a:bodyPr wrap="square">
            <a:spAutoFit/>
          </a:bodyPr>
          <a:lstStyle/>
          <a:p>
            <a:pPr algn="ctr"/>
            <a:r>
              <a:rPr sz="1000" b="1" i="0">
                <a:solidFill>
                  <a:srgbClr val="34D399"/>
                </a:solidFill>
                <a:latin typeface="Outfit"/>
              </a:rPr>
              <a:t>🛰️ Sentinel-2 Canopy</a:t>
            </a:r>
          </a:p>
        </p:txBody>
      </p:sp>
      <p:sp>
        <p:nvSpPr>
          <p:cNvPr id="16" name="TextBox 15"/>
          <p:cNvSpPr txBox="1"/>
          <p:nvPr/>
        </p:nvSpPr>
        <p:spPr>
          <a:xfrm>
            <a:off x="731520" y="6263640"/>
            <a:ext cx="4572000" cy="320040"/>
          </a:xfrm>
          <a:prstGeom prst="rect">
            <a:avLst/>
          </a:prstGeom>
          <a:noFill/>
        </p:spPr>
        <p:txBody>
          <a:bodyPr wrap="square">
            <a:spAutoFit/>
          </a:bodyPr>
          <a:lstStyle/>
          <a:p>
            <a:pPr algn="l"/>
            <a:r>
              <a:rPr sz="900" b="0" i="0">
                <a:solidFill>
                  <a:srgbClr val="64748B"/>
                </a:solidFill>
                <a:latin typeface="Plus Jakarta Sans"/>
              </a:rPr>
              <a:t>Challenge: Sustainable Agriculture</a:t>
            </a:r>
          </a:p>
        </p:txBody>
      </p:sp>
      <p:sp>
        <p:nvSpPr>
          <p:cNvPr id="17" name="TextBox 16"/>
          <p:cNvSpPr txBox="1"/>
          <p:nvPr/>
        </p:nvSpPr>
        <p:spPr>
          <a:xfrm>
            <a:off x="7315200" y="6263640"/>
            <a:ext cx="4114800" cy="32004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18" name="TextBox 17"/>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THE PROBLEM</a:t>
            </a:r>
          </a:p>
        </p:txBody>
      </p:sp>
      <p:sp>
        <p:nvSpPr>
          <p:cNvPr id="3" name="TextBox 2"/>
          <p:cNvSpPr txBox="1"/>
          <p:nvPr/>
        </p:nvSpPr>
        <p:spPr>
          <a:xfrm>
            <a:off x="731520" y="822960"/>
            <a:ext cx="10058400" cy="1005840"/>
          </a:xfrm>
          <a:prstGeom prst="rect">
            <a:avLst/>
          </a:prstGeom>
          <a:noFill/>
        </p:spPr>
        <p:txBody>
          <a:bodyPr wrap="square">
            <a:spAutoFit/>
          </a:bodyPr>
          <a:lstStyle/>
          <a:p>
            <a:r>
              <a:rPr sz="3200" b="1" i="0">
                <a:solidFill>
                  <a:srgbClr val="F1F5F9"/>
                </a:solidFill>
                <a:latin typeface="Outfit"/>
              </a:rPr>
              <a:t>Farm irrigation is a </a:t>
            </a:r>
            <a:r>
              <a:rPr sz="3200" b="1" i="0">
                <a:solidFill>
                  <a:srgbClr val="34D399"/>
                </a:solidFill>
                <a:latin typeface="Outfit"/>
              </a:rPr>
              <a:t>water</a:t>
            </a:r>
            <a:r>
              <a:rPr sz="3200" b="1" i="0">
                <a:solidFill>
                  <a:srgbClr val="F1F5F9"/>
                </a:solidFill>
                <a:latin typeface="Outfit"/>
              </a:rPr>
              <a:t> problem</a:t>
            </a:r>
          </a:p>
          <a:p>
            <a:r>
              <a:rPr sz="3200" b="0" i="0">
                <a:solidFill>
                  <a:srgbClr val="94A3B8"/>
                </a:solidFill>
                <a:latin typeface="Outfit"/>
              </a:rPr>
              <a:t>AND </a:t>
            </a:r>
            <a:r>
              <a:rPr sz="3200" b="1" i="0">
                <a:solidFill>
                  <a:srgbClr val="F1F5F9"/>
                </a:solidFill>
                <a:latin typeface="Outfit"/>
              </a:rPr>
              <a:t>an </a:t>
            </a:r>
            <a:r>
              <a:rPr sz="3200" b="1" i="0">
                <a:solidFill>
                  <a:srgbClr val="F59E0B"/>
                </a:solidFill>
                <a:latin typeface="Outfit"/>
              </a:rPr>
              <a:t>energy</a:t>
            </a:r>
            <a:r>
              <a:rPr sz="3200" b="1" i="0">
                <a:solidFill>
                  <a:srgbClr val="F1F5F9"/>
                </a:solidFill>
                <a:latin typeface="Outfit"/>
              </a:rPr>
              <a:t> problem.</a:t>
            </a:r>
          </a:p>
        </p:txBody>
      </p:sp>
      <p:sp>
        <p:nvSpPr>
          <p:cNvPr id="4" name="TextBox 3"/>
          <p:cNvSpPr txBox="1"/>
          <p:nvPr/>
        </p:nvSpPr>
        <p:spPr>
          <a:xfrm>
            <a:off x="731520" y="2103120"/>
            <a:ext cx="5669280" cy="3840480"/>
          </a:xfrm>
          <a:prstGeom prst="rect">
            <a:avLst/>
          </a:prstGeom>
          <a:noFill/>
        </p:spPr>
        <p:txBody>
          <a:bodyPr wrap="square">
            <a:spAutoFit/>
          </a:bodyPr>
          <a:lstStyle/>
          <a:p>
            <a:pPr>
              <a:spcBef>
                <a:spcPts val="600"/>
              </a:spcBef>
              <a:spcAft>
                <a:spcPts val="400"/>
              </a:spcAft>
            </a:pPr>
            <a:r>
              <a:rPr sz="800">
                <a:solidFill>
                  <a:srgbClr val="10B981"/>
                </a:solidFill>
                <a:latin typeface="Plus Jakarta Sans"/>
              </a:rPr>
              <a:t>● </a:t>
            </a:r>
            <a:r>
              <a:rPr sz="1300" b="1">
                <a:solidFill>
                  <a:srgbClr val="F1F5F9"/>
                </a:solidFill>
                <a:latin typeface="Plus Jakarta Sans"/>
              </a:rPr>
              <a:t>When to irrigate?</a:t>
            </a:r>
            <a:r>
              <a:rPr sz="1300">
                <a:solidFill>
                  <a:srgbClr val="94A3B8"/>
                </a:solidFill>
                <a:latin typeface="Plus Jakarta Sans"/>
              </a:rPr>
              <a:t> — Farmers must judge timing from weather, soil moisture, and crop stage—often separately.</a:t>
            </a:r>
          </a:p>
          <a:p>
            <a:pPr>
              <a:spcBef>
                <a:spcPts val="600"/>
              </a:spcBef>
              <a:spcAft>
                <a:spcPts val="400"/>
              </a:spcAft>
            </a:pPr>
            <a:r>
              <a:rPr sz="800">
                <a:solidFill>
                  <a:srgbClr val="10B981"/>
                </a:solidFill>
                <a:latin typeface="Plus Jakarta Sans"/>
              </a:rPr>
              <a:t>● </a:t>
            </a:r>
            <a:r>
              <a:rPr sz="1300" b="1">
                <a:solidFill>
                  <a:srgbClr val="F1F5F9"/>
                </a:solidFill>
                <a:latin typeface="Plus Jakarta Sans"/>
              </a:rPr>
              <a:t>How much water?</a:t>
            </a:r>
            <a:r>
              <a:rPr sz="1300">
                <a:solidFill>
                  <a:srgbClr val="94A3B8"/>
                </a:solidFill>
                <a:latin typeface="Plus Jakarta Sans"/>
              </a:rPr>
              <a:t> — Fixed schedules miss changing field conditions, risking over- or under-irrigation.</a:t>
            </a:r>
          </a:p>
          <a:p>
            <a:pPr>
              <a:spcBef>
                <a:spcPts val="600"/>
              </a:spcBef>
              <a:spcAft>
                <a:spcPts val="400"/>
              </a:spcAft>
            </a:pPr>
            <a:r>
              <a:rPr sz="800">
                <a:solidFill>
                  <a:srgbClr val="10B981"/>
                </a:solidFill>
                <a:latin typeface="Plus Jakarta Sans"/>
              </a:rPr>
              <a:t>● </a:t>
            </a:r>
            <a:r>
              <a:rPr sz="1300" b="1">
                <a:solidFill>
                  <a:srgbClr val="F1F5F9"/>
                </a:solidFill>
                <a:latin typeface="Plus Jakarta Sans"/>
              </a:rPr>
              <a:t>Energy cost</a:t>
            </a:r>
            <a:r>
              <a:rPr sz="1300">
                <a:solidFill>
                  <a:srgbClr val="94A3B8"/>
                </a:solidFill>
                <a:latin typeface="Plus Jakarta Sans"/>
              </a:rPr>
              <a:t> — Pumping consumes electricity or diesel. Tariff timing and solar availability are rarely factored in.</a:t>
            </a:r>
          </a:p>
          <a:p>
            <a:pPr>
              <a:spcBef>
                <a:spcPts val="600"/>
              </a:spcBef>
              <a:spcAft>
                <a:spcPts val="400"/>
              </a:spcAft>
            </a:pPr>
            <a:r>
              <a:rPr sz="800">
                <a:solidFill>
                  <a:srgbClr val="10B981"/>
                </a:solidFill>
                <a:latin typeface="Plus Jakarta Sans"/>
              </a:rPr>
              <a:t>● </a:t>
            </a:r>
            <a:r>
              <a:rPr sz="1300" b="1">
                <a:solidFill>
                  <a:srgbClr val="F1F5F9"/>
                </a:solidFill>
                <a:latin typeface="Plus Jakarta Sans"/>
              </a:rPr>
              <a:t>Fragmented signals</a:t>
            </a:r>
            <a:r>
              <a:rPr sz="1300">
                <a:solidFill>
                  <a:srgbClr val="94A3B8"/>
                </a:solidFill>
                <a:latin typeface="Plus Jakarta Sans"/>
              </a:rPr>
              <a:t> — Weather, soil, crop, water, and energy are treated as disconnected datasets.</a:t>
            </a:r>
          </a:p>
          <a:p>
            <a:pPr>
              <a:spcBef>
                <a:spcPts val="600"/>
              </a:spcBef>
              <a:spcAft>
                <a:spcPts val="400"/>
              </a:spcAft>
            </a:pPr>
            <a:r>
              <a:rPr sz="800">
                <a:solidFill>
                  <a:srgbClr val="10B981"/>
                </a:solidFill>
                <a:latin typeface="Plus Jakarta Sans"/>
              </a:rPr>
              <a:t>● </a:t>
            </a:r>
            <a:r>
              <a:rPr sz="1300" b="1">
                <a:solidFill>
                  <a:srgbClr val="F1F5F9"/>
                </a:solidFill>
                <a:latin typeface="Plus Jakarta Sans"/>
              </a:rPr>
              <a:t>No unified recommendation</a:t>
            </a:r>
            <a:r>
              <a:rPr sz="1300">
                <a:solidFill>
                  <a:srgbClr val="94A3B8"/>
                </a:solidFill>
                <a:latin typeface="Plus Jakarta Sans"/>
              </a:rPr>
              <a:t> — Farmers need one actionable decision, not five separate dashboards.</a:t>
            </a:r>
          </a:p>
        </p:txBody>
      </p:sp>
      <p:sp>
        <p:nvSpPr>
          <p:cNvPr id="5" name="Rounded Rectangle 4"/>
          <p:cNvSpPr/>
          <p:nvPr/>
        </p:nvSpPr>
        <p:spPr>
          <a:xfrm>
            <a:off x="7132320" y="2377440"/>
            <a:ext cx="1097280" cy="91440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0" y="2468880"/>
            <a:ext cx="1097280" cy="411480"/>
          </a:xfrm>
          <a:prstGeom prst="rect">
            <a:avLst/>
          </a:prstGeom>
          <a:noFill/>
        </p:spPr>
        <p:txBody>
          <a:bodyPr wrap="square">
            <a:spAutoFit/>
          </a:bodyPr>
          <a:lstStyle/>
          <a:p>
            <a:pPr algn="ctr"/>
            <a:r>
              <a:rPr sz="2200" b="0" i="0">
                <a:solidFill>
                  <a:srgbClr val="F1F5F9"/>
                </a:solidFill>
                <a:latin typeface="Outfit"/>
              </a:rPr>
              <a:t>🌦️</a:t>
            </a:r>
          </a:p>
        </p:txBody>
      </p:sp>
      <p:sp>
        <p:nvSpPr>
          <p:cNvPr id="7" name="TextBox 6"/>
          <p:cNvSpPr txBox="1"/>
          <p:nvPr/>
        </p:nvSpPr>
        <p:spPr>
          <a:xfrm>
            <a:off x="7132320" y="2926080"/>
            <a:ext cx="1097280" cy="274320"/>
          </a:xfrm>
          <a:prstGeom prst="rect">
            <a:avLst/>
          </a:prstGeom>
          <a:noFill/>
        </p:spPr>
        <p:txBody>
          <a:bodyPr wrap="square">
            <a:spAutoFit/>
          </a:bodyPr>
          <a:lstStyle/>
          <a:p>
            <a:pPr algn="ctr"/>
            <a:r>
              <a:rPr sz="900" b="0" i="0">
                <a:solidFill>
                  <a:srgbClr val="64748B"/>
                </a:solidFill>
                <a:latin typeface="Plus Jakarta Sans"/>
              </a:rPr>
              <a:t>Weather</a:t>
            </a:r>
          </a:p>
        </p:txBody>
      </p:sp>
      <p:sp>
        <p:nvSpPr>
          <p:cNvPr id="8" name="Rounded Rectangle 7"/>
          <p:cNvSpPr/>
          <p:nvPr/>
        </p:nvSpPr>
        <p:spPr>
          <a:xfrm>
            <a:off x="8503920" y="2377440"/>
            <a:ext cx="1097280" cy="91440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0" y="2468880"/>
            <a:ext cx="1097280" cy="411480"/>
          </a:xfrm>
          <a:prstGeom prst="rect">
            <a:avLst/>
          </a:prstGeom>
          <a:noFill/>
        </p:spPr>
        <p:txBody>
          <a:bodyPr wrap="square">
            <a:spAutoFit/>
          </a:bodyPr>
          <a:lstStyle/>
          <a:p>
            <a:pPr algn="ctr"/>
            <a:r>
              <a:rPr sz="2200" b="0" i="0">
                <a:solidFill>
                  <a:srgbClr val="F1F5F9"/>
                </a:solidFill>
                <a:latin typeface="Outfit"/>
              </a:rPr>
              <a:t>🪨</a:t>
            </a:r>
          </a:p>
        </p:txBody>
      </p:sp>
      <p:sp>
        <p:nvSpPr>
          <p:cNvPr id="10" name="TextBox 9"/>
          <p:cNvSpPr txBox="1"/>
          <p:nvPr/>
        </p:nvSpPr>
        <p:spPr>
          <a:xfrm>
            <a:off x="8503920" y="2926080"/>
            <a:ext cx="1097280" cy="274320"/>
          </a:xfrm>
          <a:prstGeom prst="rect">
            <a:avLst/>
          </a:prstGeom>
          <a:noFill/>
        </p:spPr>
        <p:txBody>
          <a:bodyPr wrap="square">
            <a:spAutoFit/>
          </a:bodyPr>
          <a:lstStyle/>
          <a:p>
            <a:pPr algn="ctr"/>
            <a:r>
              <a:rPr sz="900" b="0" i="0">
                <a:solidFill>
                  <a:srgbClr val="64748B"/>
                </a:solidFill>
                <a:latin typeface="Plus Jakarta Sans"/>
              </a:rPr>
              <a:t>Soil</a:t>
            </a:r>
          </a:p>
        </p:txBody>
      </p:sp>
      <p:sp>
        <p:nvSpPr>
          <p:cNvPr id="11" name="Rounded Rectangle 10"/>
          <p:cNvSpPr/>
          <p:nvPr/>
        </p:nvSpPr>
        <p:spPr>
          <a:xfrm>
            <a:off x="9875520" y="2377440"/>
            <a:ext cx="1097280" cy="91440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0" y="2468880"/>
            <a:ext cx="1097280" cy="411480"/>
          </a:xfrm>
          <a:prstGeom prst="rect">
            <a:avLst/>
          </a:prstGeom>
          <a:noFill/>
        </p:spPr>
        <p:txBody>
          <a:bodyPr wrap="square">
            <a:spAutoFit/>
          </a:bodyPr>
          <a:lstStyle/>
          <a:p>
            <a:pPr algn="ctr"/>
            <a:r>
              <a:rPr sz="2200" b="0" i="0">
                <a:solidFill>
                  <a:srgbClr val="F1F5F9"/>
                </a:solidFill>
                <a:latin typeface="Outfit"/>
              </a:rPr>
              <a:t>🌾</a:t>
            </a:r>
          </a:p>
        </p:txBody>
      </p:sp>
      <p:sp>
        <p:nvSpPr>
          <p:cNvPr id="13" name="TextBox 12"/>
          <p:cNvSpPr txBox="1"/>
          <p:nvPr/>
        </p:nvSpPr>
        <p:spPr>
          <a:xfrm>
            <a:off x="9875520" y="2926080"/>
            <a:ext cx="1097280" cy="274320"/>
          </a:xfrm>
          <a:prstGeom prst="rect">
            <a:avLst/>
          </a:prstGeom>
          <a:noFill/>
        </p:spPr>
        <p:txBody>
          <a:bodyPr wrap="square">
            <a:spAutoFit/>
          </a:bodyPr>
          <a:lstStyle/>
          <a:p>
            <a:pPr algn="ctr"/>
            <a:r>
              <a:rPr sz="900" b="0" i="0">
                <a:solidFill>
                  <a:srgbClr val="64748B"/>
                </a:solidFill>
                <a:latin typeface="Plus Jakarta Sans"/>
              </a:rPr>
              <a:t>Crop</a:t>
            </a:r>
          </a:p>
        </p:txBody>
      </p:sp>
      <p:sp>
        <p:nvSpPr>
          <p:cNvPr id="14" name="Rounded Rectangle 13"/>
          <p:cNvSpPr/>
          <p:nvPr/>
        </p:nvSpPr>
        <p:spPr>
          <a:xfrm>
            <a:off x="7132320" y="3566160"/>
            <a:ext cx="1097280" cy="91440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3657600"/>
            <a:ext cx="1097280" cy="411480"/>
          </a:xfrm>
          <a:prstGeom prst="rect">
            <a:avLst/>
          </a:prstGeom>
          <a:noFill/>
        </p:spPr>
        <p:txBody>
          <a:bodyPr wrap="square">
            <a:spAutoFit/>
          </a:bodyPr>
          <a:lstStyle/>
          <a:p>
            <a:pPr algn="ctr"/>
            <a:r>
              <a:rPr sz="2200" b="0" i="0">
                <a:solidFill>
                  <a:srgbClr val="F1F5F9"/>
                </a:solidFill>
                <a:latin typeface="Outfit"/>
              </a:rPr>
              <a:t>💧</a:t>
            </a:r>
          </a:p>
        </p:txBody>
      </p:sp>
      <p:sp>
        <p:nvSpPr>
          <p:cNvPr id="16" name="TextBox 15"/>
          <p:cNvSpPr txBox="1"/>
          <p:nvPr/>
        </p:nvSpPr>
        <p:spPr>
          <a:xfrm>
            <a:off x="7132320" y="4114800"/>
            <a:ext cx="1097280" cy="274320"/>
          </a:xfrm>
          <a:prstGeom prst="rect">
            <a:avLst/>
          </a:prstGeom>
          <a:noFill/>
        </p:spPr>
        <p:txBody>
          <a:bodyPr wrap="square">
            <a:spAutoFit/>
          </a:bodyPr>
          <a:lstStyle/>
          <a:p>
            <a:pPr algn="ctr"/>
            <a:r>
              <a:rPr sz="900" b="0" i="0">
                <a:solidFill>
                  <a:srgbClr val="64748B"/>
                </a:solidFill>
                <a:latin typeface="Plus Jakarta Sans"/>
              </a:rPr>
              <a:t>Water</a:t>
            </a:r>
          </a:p>
        </p:txBody>
      </p:sp>
      <p:sp>
        <p:nvSpPr>
          <p:cNvPr id="17" name="Rounded Rectangle 16"/>
          <p:cNvSpPr/>
          <p:nvPr/>
        </p:nvSpPr>
        <p:spPr>
          <a:xfrm>
            <a:off x="8503920" y="3566160"/>
            <a:ext cx="1097280" cy="91440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3657600"/>
            <a:ext cx="1097280" cy="411480"/>
          </a:xfrm>
          <a:prstGeom prst="rect">
            <a:avLst/>
          </a:prstGeom>
          <a:noFill/>
        </p:spPr>
        <p:txBody>
          <a:bodyPr wrap="square">
            <a:spAutoFit/>
          </a:bodyPr>
          <a:lstStyle/>
          <a:p>
            <a:pPr algn="ctr"/>
            <a:r>
              <a:rPr sz="2200" b="0" i="0">
                <a:solidFill>
                  <a:srgbClr val="F1F5F9"/>
                </a:solidFill>
                <a:latin typeface="Outfit"/>
              </a:rPr>
              <a:t>⚡</a:t>
            </a:r>
          </a:p>
        </p:txBody>
      </p:sp>
      <p:sp>
        <p:nvSpPr>
          <p:cNvPr id="19" name="TextBox 18"/>
          <p:cNvSpPr txBox="1"/>
          <p:nvPr/>
        </p:nvSpPr>
        <p:spPr>
          <a:xfrm>
            <a:off x="8503920" y="4114800"/>
            <a:ext cx="1097280" cy="274320"/>
          </a:xfrm>
          <a:prstGeom prst="rect">
            <a:avLst/>
          </a:prstGeom>
          <a:noFill/>
        </p:spPr>
        <p:txBody>
          <a:bodyPr wrap="square">
            <a:spAutoFit/>
          </a:bodyPr>
          <a:lstStyle/>
          <a:p>
            <a:pPr algn="ctr"/>
            <a:r>
              <a:rPr sz="900" b="0" i="0">
                <a:solidFill>
                  <a:srgbClr val="64748B"/>
                </a:solidFill>
                <a:latin typeface="Plus Jakarta Sans"/>
              </a:rPr>
              <a:t>Energy</a:t>
            </a:r>
          </a:p>
        </p:txBody>
      </p:sp>
      <p:sp>
        <p:nvSpPr>
          <p:cNvPr id="20" name="TextBox 19"/>
          <p:cNvSpPr txBox="1"/>
          <p:nvPr/>
        </p:nvSpPr>
        <p:spPr>
          <a:xfrm>
            <a:off x="7132320" y="4572000"/>
            <a:ext cx="4114800" cy="365760"/>
          </a:xfrm>
          <a:prstGeom prst="rect">
            <a:avLst/>
          </a:prstGeom>
          <a:noFill/>
        </p:spPr>
        <p:txBody>
          <a:bodyPr wrap="square">
            <a:spAutoFit/>
          </a:bodyPr>
          <a:lstStyle/>
          <a:p>
            <a:pPr algn="ctr"/>
            <a:r>
              <a:rPr sz="1200" b="0" i="0">
                <a:solidFill>
                  <a:srgbClr val="64748B"/>
                </a:solidFill>
                <a:latin typeface="Plus Jakarta Sans"/>
              </a:rPr>
              <a:t>↓  fragmented decisions  ↓</a:t>
            </a:r>
          </a:p>
        </p:txBody>
      </p:sp>
      <p:sp>
        <p:nvSpPr>
          <p:cNvPr id="21" name="Rounded Rectangle 20"/>
          <p:cNvSpPr/>
          <p:nvPr/>
        </p:nvSpPr>
        <p:spPr>
          <a:xfrm>
            <a:off x="7132320" y="5029200"/>
            <a:ext cx="4114800" cy="594360"/>
          </a:xfrm>
          <a:prstGeom prst="roundRect">
            <a:avLst/>
          </a:prstGeom>
          <a:solidFill>
            <a:srgbClr val="0D2B1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5074920"/>
            <a:ext cx="4114800" cy="502920"/>
          </a:xfrm>
          <a:prstGeom prst="rect">
            <a:avLst/>
          </a:prstGeom>
          <a:noFill/>
        </p:spPr>
        <p:txBody>
          <a:bodyPr wrap="square">
            <a:spAutoFit/>
          </a:bodyPr>
          <a:lstStyle/>
          <a:p>
            <a:pPr algn="ctr"/>
            <a:r>
              <a:rPr sz="1300" b="1" i="0">
                <a:solidFill>
                  <a:srgbClr val="34D399"/>
                </a:solidFill>
                <a:latin typeface="Outfit"/>
              </a:rPr>
              <a:t>KISAN URJA brings these signals together.</a:t>
            </a:r>
          </a:p>
        </p:txBody>
      </p:sp>
      <p:sp>
        <p:nvSpPr>
          <p:cNvPr id="23" name="TextBox 22"/>
          <p:cNvSpPr txBox="1"/>
          <p:nvPr/>
        </p:nvSpPr>
        <p:spPr>
          <a:xfrm>
            <a:off x="731520" y="6309360"/>
            <a:ext cx="4572000" cy="365760"/>
          </a:xfrm>
          <a:prstGeom prst="rect">
            <a:avLst/>
          </a:prstGeom>
          <a:noFill/>
        </p:spPr>
        <p:txBody>
          <a:bodyPr wrap="square">
            <a:spAutoFit/>
          </a:bodyPr>
          <a:lstStyle/>
          <a:p>
            <a:pPr algn="l"/>
            <a:r>
              <a:rPr sz="900" b="0" i="0">
                <a:solidFill>
                  <a:srgbClr val="64748B"/>
                </a:solidFill>
                <a:latin typeface="Plus Jakarta Sans"/>
              </a:rPr>
              <a:t>KISAN URJA — Yuva Yodha 2026</a:t>
            </a:r>
          </a:p>
        </p:txBody>
      </p:sp>
      <p:sp>
        <p:nvSpPr>
          <p:cNvPr id="24" name="TextBox 23"/>
          <p:cNvSpPr txBox="1"/>
          <p:nvPr/>
        </p:nvSpPr>
        <p:spPr>
          <a:xfrm>
            <a:off x="7315200" y="6309360"/>
            <a:ext cx="4114800" cy="36576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25" name="TextBox 24"/>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OUR SOLUTION</a:t>
            </a:r>
          </a:p>
        </p:txBody>
      </p:sp>
      <p:sp>
        <p:nvSpPr>
          <p:cNvPr id="3" name="TextBox 2"/>
          <p:cNvSpPr txBox="1"/>
          <p:nvPr/>
        </p:nvSpPr>
        <p:spPr>
          <a:xfrm>
            <a:off x="731520" y="822960"/>
            <a:ext cx="10058400" cy="640080"/>
          </a:xfrm>
          <a:prstGeom prst="rect">
            <a:avLst/>
          </a:prstGeom>
          <a:noFill/>
        </p:spPr>
        <p:txBody>
          <a:bodyPr wrap="square">
            <a:spAutoFit/>
          </a:bodyPr>
          <a:lstStyle/>
          <a:p>
            <a:r>
              <a:rPr sz="3000" b="1" i="0">
                <a:solidFill>
                  <a:srgbClr val="F1F5F9"/>
                </a:solidFill>
                <a:latin typeface="Outfit"/>
              </a:rPr>
              <a:t>One intelligence layer for </a:t>
            </a:r>
            <a:r>
              <a:rPr sz="3000" b="1" i="0">
                <a:solidFill>
                  <a:srgbClr val="34D399"/>
                </a:solidFill>
                <a:latin typeface="Outfit"/>
              </a:rPr>
              <a:t>water</a:t>
            </a:r>
            <a:r>
              <a:rPr sz="3000" b="1" i="0">
                <a:solidFill>
                  <a:srgbClr val="F1F5F9"/>
                </a:solidFill>
                <a:latin typeface="Outfit"/>
              </a:rPr>
              <a:t>, </a:t>
            </a:r>
            <a:r>
              <a:rPr sz="3000" b="1" i="0">
                <a:solidFill>
                  <a:srgbClr val="F59E0B"/>
                </a:solidFill>
                <a:latin typeface="Outfit"/>
              </a:rPr>
              <a:t>crops</a:t>
            </a:r>
            <a:r>
              <a:rPr sz="3000" b="1" i="0">
                <a:solidFill>
                  <a:srgbClr val="F1F5F9"/>
                </a:solidFill>
                <a:latin typeface="Outfit"/>
              </a:rPr>
              <a:t> and </a:t>
            </a:r>
            <a:r>
              <a:rPr sz="3000" b="1" i="0">
                <a:solidFill>
                  <a:srgbClr val="F59E0B"/>
                </a:solidFill>
                <a:latin typeface="Outfit"/>
              </a:rPr>
              <a:t>energy</a:t>
            </a:r>
            <a:r>
              <a:rPr sz="3000" b="1" i="0">
                <a:solidFill>
                  <a:srgbClr val="F1F5F9"/>
                </a:solidFill>
                <a:latin typeface="Outfit"/>
              </a:rPr>
              <a:t>.</a:t>
            </a:r>
          </a:p>
        </p:txBody>
      </p:sp>
      <p:sp>
        <p:nvSpPr>
          <p:cNvPr id="4" name="TextBox 3"/>
          <p:cNvSpPr txBox="1"/>
          <p:nvPr/>
        </p:nvSpPr>
        <p:spPr>
          <a:xfrm>
            <a:off x="731520" y="1645920"/>
            <a:ext cx="3200400" cy="320040"/>
          </a:xfrm>
          <a:prstGeom prst="rect">
            <a:avLst/>
          </a:prstGeom>
          <a:noFill/>
        </p:spPr>
        <p:txBody>
          <a:bodyPr wrap="square">
            <a:spAutoFit/>
          </a:bodyPr>
          <a:lstStyle/>
          <a:p>
            <a:pPr algn="l"/>
            <a:r>
              <a:rPr sz="1200" b="1" i="0">
                <a:solidFill>
                  <a:srgbClr val="64748B"/>
                </a:solidFill>
                <a:latin typeface="Outfit"/>
              </a:rPr>
              <a:t>INPUTS</a:t>
            </a:r>
          </a:p>
        </p:txBody>
      </p:sp>
      <p:sp>
        <p:nvSpPr>
          <p:cNvPr id="5" name="Rounded Rectangle 4"/>
          <p:cNvSpPr/>
          <p:nvPr/>
        </p:nvSpPr>
        <p:spPr>
          <a:xfrm>
            <a:off x="731520" y="201168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21408"/>
            <a:ext cx="2926080" cy="457200"/>
          </a:xfrm>
          <a:prstGeom prst="rect">
            <a:avLst/>
          </a:prstGeom>
          <a:noFill/>
        </p:spPr>
        <p:txBody>
          <a:bodyPr wrap="square">
            <a:spAutoFit/>
          </a:bodyPr>
          <a:lstStyle/>
          <a:p>
            <a:pPr algn="l"/>
            <a:r>
              <a:rPr sz="1100" b="0" i="0">
                <a:solidFill>
                  <a:srgbClr val="94A3B8"/>
                </a:solidFill>
                <a:latin typeface="Plus Jakarta Sans"/>
              </a:rPr>
              <a:t>🌤️  Microclimate — Open-Meteo weather</a:t>
            </a:r>
          </a:p>
        </p:txBody>
      </p:sp>
      <p:sp>
        <p:nvSpPr>
          <p:cNvPr id="7" name="Rounded Rectangle 6"/>
          <p:cNvSpPr/>
          <p:nvPr/>
        </p:nvSpPr>
        <p:spPr>
          <a:xfrm>
            <a:off x="731520" y="278892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898648"/>
            <a:ext cx="2926080" cy="457200"/>
          </a:xfrm>
          <a:prstGeom prst="rect">
            <a:avLst/>
          </a:prstGeom>
          <a:noFill/>
        </p:spPr>
        <p:txBody>
          <a:bodyPr wrap="square">
            <a:spAutoFit/>
          </a:bodyPr>
          <a:lstStyle/>
          <a:p>
            <a:pPr algn="l"/>
            <a:r>
              <a:rPr sz="1100" b="0" i="0">
                <a:solidFill>
                  <a:srgbClr val="94A3B8"/>
                </a:solidFill>
                <a:latin typeface="Plus Jakarta Sans"/>
              </a:rPr>
              <a:t>🪨  Soil properties — ISRIC SoilGrids 250m</a:t>
            </a:r>
          </a:p>
        </p:txBody>
      </p:sp>
      <p:sp>
        <p:nvSpPr>
          <p:cNvPr id="9" name="Rounded Rectangle 8"/>
          <p:cNvSpPr/>
          <p:nvPr/>
        </p:nvSpPr>
        <p:spPr>
          <a:xfrm>
            <a:off x="731520" y="356616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675888"/>
            <a:ext cx="2926080" cy="457200"/>
          </a:xfrm>
          <a:prstGeom prst="rect">
            <a:avLst/>
          </a:prstGeom>
          <a:noFill/>
        </p:spPr>
        <p:txBody>
          <a:bodyPr wrap="square">
            <a:spAutoFit/>
          </a:bodyPr>
          <a:lstStyle/>
          <a:p>
            <a:pPr algn="l"/>
            <a:r>
              <a:rPr sz="1100" b="0" i="0">
                <a:solidFill>
                  <a:srgbClr val="94A3B8"/>
                </a:solidFill>
                <a:latin typeface="Plus Jakarta Sans"/>
              </a:rPr>
              <a:t>🛰️  Satellite — Copernicus Sentinel-2 (10m)</a:t>
            </a:r>
          </a:p>
        </p:txBody>
      </p:sp>
      <p:sp>
        <p:nvSpPr>
          <p:cNvPr id="11" name="Rounded Rectangle 10"/>
          <p:cNvSpPr/>
          <p:nvPr/>
        </p:nvSpPr>
        <p:spPr>
          <a:xfrm>
            <a:off x="731520" y="434340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453128"/>
            <a:ext cx="2926080" cy="457200"/>
          </a:xfrm>
          <a:prstGeom prst="rect">
            <a:avLst/>
          </a:prstGeom>
          <a:noFill/>
        </p:spPr>
        <p:txBody>
          <a:bodyPr wrap="square">
            <a:spAutoFit/>
          </a:bodyPr>
          <a:lstStyle/>
          <a:p>
            <a:pPr algn="l"/>
            <a:r>
              <a:rPr sz="1100" b="0" i="0">
                <a:solidFill>
                  <a:srgbClr val="94A3B8"/>
                </a:solidFill>
                <a:latin typeface="Plus Jakarta Sans"/>
              </a:rPr>
              <a:t>🌾  Crop/field — Species, stage, rooting depth</a:t>
            </a:r>
          </a:p>
        </p:txBody>
      </p:sp>
      <p:sp>
        <p:nvSpPr>
          <p:cNvPr id="13" name="Rounded Rectangle 12"/>
          <p:cNvSpPr/>
          <p:nvPr/>
        </p:nvSpPr>
        <p:spPr>
          <a:xfrm>
            <a:off x="731520" y="512064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230368"/>
            <a:ext cx="2926080" cy="457200"/>
          </a:xfrm>
          <a:prstGeom prst="rect">
            <a:avLst/>
          </a:prstGeom>
          <a:noFill/>
        </p:spPr>
        <p:txBody>
          <a:bodyPr wrap="square">
            <a:spAutoFit/>
          </a:bodyPr>
          <a:lstStyle/>
          <a:p>
            <a:pPr algn="l"/>
            <a:r>
              <a:rPr sz="1100" b="0" i="0">
                <a:solidFill>
                  <a:srgbClr val="94A3B8"/>
                </a:solidFill>
                <a:latin typeface="Plus Jakarta Sans"/>
              </a:rPr>
              <a:t>☀️  Solar/pump — PV capacity, pump HP, tariff</a:t>
            </a:r>
          </a:p>
        </p:txBody>
      </p:sp>
      <p:sp>
        <p:nvSpPr>
          <p:cNvPr id="15" name="Rounded Rectangle 14"/>
          <p:cNvSpPr/>
          <p:nvPr/>
        </p:nvSpPr>
        <p:spPr>
          <a:xfrm>
            <a:off x="4297680" y="1828800"/>
            <a:ext cx="3200400" cy="4114800"/>
          </a:xfrm>
          <a:prstGeom prst="roundRect">
            <a:avLst/>
          </a:prstGeom>
          <a:solidFill>
            <a:srgbClr val="0D2B1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1965960"/>
            <a:ext cx="3200400" cy="457200"/>
          </a:xfrm>
          <a:prstGeom prst="rect">
            <a:avLst/>
          </a:prstGeom>
          <a:noFill/>
        </p:spPr>
        <p:txBody>
          <a:bodyPr wrap="square">
            <a:spAutoFit/>
          </a:bodyPr>
          <a:lstStyle/>
          <a:p>
            <a:pPr algn="ctr"/>
            <a:r>
              <a:rPr sz="2800" b="0" i="0">
                <a:solidFill>
                  <a:srgbClr val="F1F5F9"/>
                </a:solidFill>
                <a:latin typeface="Outfit"/>
              </a:rPr>
              <a:t>🧠</a:t>
            </a:r>
          </a:p>
        </p:txBody>
      </p:sp>
      <p:sp>
        <p:nvSpPr>
          <p:cNvPr id="17" name="TextBox 16"/>
          <p:cNvSpPr txBox="1"/>
          <p:nvPr/>
        </p:nvSpPr>
        <p:spPr>
          <a:xfrm>
            <a:off x="4297680" y="2423160"/>
            <a:ext cx="3200400" cy="365760"/>
          </a:xfrm>
          <a:prstGeom prst="rect">
            <a:avLst/>
          </a:prstGeom>
          <a:noFill/>
        </p:spPr>
        <p:txBody>
          <a:bodyPr wrap="square">
            <a:spAutoFit/>
          </a:bodyPr>
          <a:lstStyle/>
          <a:p>
            <a:pPr algn="ctr"/>
            <a:r>
              <a:rPr sz="1300" b="1" i="0">
                <a:solidFill>
                  <a:srgbClr val="34D399"/>
                </a:solidFill>
                <a:latin typeface="Outfit"/>
              </a:rPr>
              <a:t>INTELLIGENCE ENGINE</a:t>
            </a:r>
          </a:p>
        </p:txBody>
      </p:sp>
      <p:sp>
        <p:nvSpPr>
          <p:cNvPr id="18" name="TextBox 17"/>
          <p:cNvSpPr txBox="1"/>
          <p:nvPr/>
        </p:nvSpPr>
        <p:spPr>
          <a:xfrm>
            <a:off x="4663440" y="2880360"/>
            <a:ext cx="2468880" cy="2926080"/>
          </a:xfrm>
          <a:prstGeom prst="rect">
            <a:avLst/>
          </a:prstGeom>
          <a:noFill/>
        </p:spPr>
        <p:txBody>
          <a:bodyPr wrap="square">
            <a:spAutoFit/>
          </a:bodyPr>
          <a:lstStyle/>
          <a:p>
            <a:pPr>
              <a:spcBef>
                <a:spcPts val="500"/>
              </a:spcBef>
            </a:pPr>
            <a:r>
              <a:rPr sz="1100" b="0" i="0">
                <a:solidFill>
                  <a:srgbClr val="94A3B8"/>
                </a:solidFill>
                <a:latin typeface="Plus Jakarta Sans"/>
              </a:rPr>
              <a:t>→ FAO-56 Penman-Monteith ET₀</a:t>
            </a:r>
          </a:p>
          <a:p>
            <a:pPr>
              <a:spcBef>
                <a:spcPts val="500"/>
              </a:spcBef>
            </a:pPr>
            <a:r>
              <a:rPr sz="1100" b="0" i="0">
                <a:solidFill>
                  <a:srgbClr val="94A3B8"/>
                </a:solidFill>
                <a:latin typeface="Plus Jakarta Sans"/>
              </a:rPr>
              <a:t>→ Pedotransfer soil hydraulics</a:t>
            </a:r>
          </a:p>
          <a:p>
            <a:pPr>
              <a:spcBef>
                <a:spcPts val="500"/>
              </a:spcBef>
            </a:pPr>
            <a:r>
              <a:rPr sz="1100" b="0" i="0">
                <a:solidFill>
                  <a:srgbClr val="94A3B8"/>
                </a:solidFill>
                <a:latin typeface="Plus Jakarta Sans"/>
              </a:rPr>
              <a:t>→ Root-zone water balance</a:t>
            </a:r>
          </a:p>
          <a:p>
            <a:pPr>
              <a:spcBef>
                <a:spcPts val="500"/>
              </a:spcBef>
            </a:pPr>
            <a:r>
              <a:rPr sz="1100" b="0" i="0">
                <a:solidFill>
                  <a:srgbClr val="94A3B8"/>
                </a:solidFill>
                <a:latin typeface="Plus Jakarta Sans"/>
              </a:rPr>
              <a:t>→ Crop water stress (Kₛ / CWSI)</a:t>
            </a:r>
          </a:p>
          <a:p>
            <a:pPr>
              <a:spcBef>
                <a:spcPts val="500"/>
              </a:spcBef>
            </a:pPr>
            <a:r>
              <a:rPr sz="1100" b="0" i="0">
                <a:solidFill>
                  <a:srgbClr val="94A3B8"/>
                </a:solidFill>
                <a:latin typeface="Plus Jakarta Sans"/>
              </a:rPr>
              <a:t>→ Solar generation modeling</a:t>
            </a:r>
          </a:p>
          <a:p>
            <a:pPr>
              <a:spcBef>
                <a:spcPts val="500"/>
              </a:spcBef>
            </a:pPr>
            <a:r>
              <a:rPr sz="1100" b="0" i="0">
                <a:solidFill>
                  <a:srgbClr val="94A3B8"/>
                </a:solidFill>
                <a:latin typeface="Plus Jakarta Sans"/>
              </a:rPr>
              <a:t>→ Tariff-aware scheduling</a:t>
            </a:r>
          </a:p>
          <a:p>
            <a:pPr>
              <a:spcBef>
                <a:spcPts val="500"/>
              </a:spcBef>
            </a:pPr>
            <a:r>
              <a:rPr sz="1100" b="0" i="0">
                <a:solidFill>
                  <a:srgbClr val="94A3B8"/>
                </a:solidFill>
                <a:latin typeface="Plus Jakarta Sans"/>
              </a:rPr>
              <a:t>→ Traceability chain engine</a:t>
            </a:r>
          </a:p>
        </p:txBody>
      </p:sp>
      <p:sp>
        <p:nvSpPr>
          <p:cNvPr id="19" name="TextBox 18"/>
          <p:cNvSpPr txBox="1"/>
          <p:nvPr/>
        </p:nvSpPr>
        <p:spPr>
          <a:xfrm>
            <a:off x="7863840" y="1645920"/>
            <a:ext cx="3200400" cy="320040"/>
          </a:xfrm>
          <a:prstGeom prst="rect">
            <a:avLst/>
          </a:prstGeom>
          <a:noFill/>
        </p:spPr>
        <p:txBody>
          <a:bodyPr wrap="square">
            <a:spAutoFit/>
          </a:bodyPr>
          <a:lstStyle/>
          <a:p>
            <a:pPr algn="l"/>
            <a:r>
              <a:rPr sz="1200" b="1" i="0">
                <a:solidFill>
                  <a:srgbClr val="64748B"/>
                </a:solidFill>
                <a:latin typeface="Outfit"/>
              </a:rPr>
              <a:t>OUTPUTS</a:t>
            </a:r>
          </a:p>
        </p:txBody>
      </p:sp>
      <p:sp>
        <p:nvSpPr>
          <p:cNvPr id="20" name="Rounded Rectangle 19"/>
          <p:cNvSpPr/>
          <p:nvPr/>
        </p:nvSpPr>
        <p:spPr>
          <a:xfrm>
            <a:off x="7863840" y="2011680"/>
            <a:ext cx="3200400" cy="640080"/>
          </a:xfrm>
          <a:prstGeom prst="roundRect">
            <a:avLst/>
          </a:prstGeom>
          <a:solidFill>
            <a:srgbClr val="1E293B"/>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2121408"/>
            <a:ext cx="2926080" cy="457200"/>
          </a:xfrm>
          <a:prstGeom prst="rect">
            <a:avLst/>
          </a:prstGeom>
          <a:noFill/>
        </p:spPr>
        <p:txBody>
          <a:bodyPr wrap="square">
            <a:spAutoFit/>
          </a:bodyPr>
          <a:lstStyle/>
          <a:p>
            <a:pPr algn="l"/>
            <a:r>
              <a:rPr sz="1100" b="0" i="0">
                <a:solidFill>
                  <a:srgbClr val="94A3B8"/>
                </a:solidFill>
                <a:latin typeface="Plus Jakarta Sans"/>
              </a:rPr>
              <a:t>🚿  Irrigation recommendations</a:t>
            </a:r>
          </a:p>
        </p:txBody>
      </p:sp>
      <p:sp>
        <p:nvSpPr>
          <p:cNvPr id="22" name="Rounded Rectangle 21"/>
          <p:cNvSpPr/>
          <p:nvPr/>
        </p:nvSpPr>
        <p:spPr>
          <a:xfrm>
            <a:off x="7863840" y="278892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01000" y="2898648"/>
            <a:ext cx="2926080" cy="457200"/>
          </a:xfrm>
          <a:prstGeom prst="rect">
            <a:avLst/>
          </a:prstGeom>
          <a:noFill/>
        </p:spPr>
        <p:txBody>
          <a:bodyPr wrap="square">
            <a:spAutoFit/>
          </a:bodyPr>
          <a:lstStyle/>
          <a:p>
            <a:pPr algn="l"/>
            <a:r>
              <a:rPr sz="1100" b="0" i="0">
                <a:solidFill>
                  <a:srgbClr val="94A3B8"/>
                </a:solidFill>
                <a:latin typeface="Plus Jakarta Sans"/>
              </a:rPr>
              <a:t>📊  Water stress insights (CWSI)</a:t>
            </a:r>
          </a:p>
        </p:txBody>
      </p:sp>
      <p:sp>
        <p:nvSpPr>
          <p:cNvPr id="24" name="Rounded Rectangle 23"/>
          <p:cNvSpPr/>
          <p:nvPr/>
        </p:nvSpPr>
        <p:spPr>
          <a:xfrm>
            <a:off x="7863840" y="356616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01000" y="3675888"/>
            <a:ext cx="2926080" cy="457200"/>
          </a:xfrm>
          <a:prstGeom prst="rect">
            <a:avLst/>
          </a:prstGeom>
          <a:noFill/>
        </p:spPr>
        <p:txBody>
          <a:bodyPr wrap="square">
            <a:spAutoFit/>
          </a:bodyPr>
          <a:lstStyle/>
          <a:p>
            <a:pPr algn="l"/>
            <a:r>
              <a:rPr sz="1100" b="0" i="0">
                <a:solidFill>
                  <a:srgbClr val="94A3B8"/>
                </a:solidFill>
                <a:latin typeface="Plus Jakarta Sans"/>
              </a:rPr>
              <a:t>⚡  Solar pumping windows</a:t>
            </a:r>
          </a:p>
        </p:txBody>
      </p:sp>
      <p:sp>
        <p:nvSpPr>
          <p:cNvPr id="26" name="Rounded Rectangle 25"/>
          <p:cNvSpPr/>
          <p:nvPr/>
        </p:nvSpPr>
        <p:spPr>
          <a:xfrm>
            <a:off x="7863840" y="434340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01000" y="4453128"/>
            <a:ext cx="2926080" cy="457200"/>
          </a:xfrm>
          <a:prstGeom prst="rect">
            <a:avLst/>
          </a:prstGeom>
          <a:noFill/>
        </p:spPr>
        <p:txBody>
          <a:bodyPr wrap="square">
            <a:spAutoFit/>
          </a:bodyPr>
          <a:lstStyle/>
          <a:p>
            <a:pPr algn="l"/>
            <a:r>
              <a:rPr sz="1100" b="0" i="0">
                <a:solidFill>
                  <a:srgbClr val="94A3B8"/>
                </a:solidFill>
                <a:latin typeface="Plus Jakarta Sans"/>
              </a:rPr>
              <a:t>💰  Financial/energy insights</a:t>
            </a:r>
          </a:p>
        </p:txBody>
      </p:sp>
      <p:sp>
        <p:nvSpPr>
          <p:cNvPr id="28" name="Rounded Rectangle 27"/>
          <p:cNvSpPr/>
          <p:nvPr/>
        </p:nvSpPr>
        <p:spPr>
          <a:xfrm>
            <a:off x="7863840" y="5120640"/>
            <a:ext cx="3200400" cy="6400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01000" y="5230368"/>
            <a:ext cx="2926080" cy="457200"/>
          </a:xfrm>
          <a:prstGeom prst="rect">
            <a:avLst/>
          </a:prstGeom>
          <a:noFill/>
        </p:spPr>
        <p:txBody>
          <a:bodyPr wrap="square">
            <a:spAutoFit/>
          </a:bodyPr>
          <a:lstStyle/>
          <a:p>
            <a:pPr algn="l"/>
            <a:r>
              <a:rPr sz="1100" b="0" i="0">
                <a:solidFill>
                  <a:srgbClr val="94A3B8"/>
                </a:solidFill>
                <a:latin typeface="Plus Jakarta Sans"/>
              </a:rPr>
              <a:t>🔗  Traceable reasoning chain</a:t>
            </a:r>
          </a:p>
        </p:txBody>
      </p:sp>
      <p:sp>
        <p:nvSpPr>
          <p:cNvPr id="30" name="TextBox 29"/>
          <p:cNvSpPr txBox="1"/>
          <p:nvPr/>
        </p:nvSpPr>
        <p:spPr>
          <a:xfrm>
            <a:off x="731520" y="6309360"/>
            <a:ext cx="4572000" cy="365760"/>
          </a:xfrm>
          <a:prstGeom prst="rect">
            <a:avLst/>
          </a:prstGeom>
          <a:noFill/>
        </p:spPr>
        <p:txBody>
          <a:bodyPr wrap="square">
            <a:spAutoFit/>
          </a:bodyPr>
          <a:lstStyle/>
          <a:p>
            <a:pPr algn="l"/>
            <a:r>
              <a:rPr sz="900" b="0" i="0">
                <a:solidFill>
                  <a:srgbClr val="64748B"/>
                </a:solidFill>
                <a:latin typeface="Plus Jakarta Sans"/>
              </a:rPr>
              <a:t>KISAN URJA — Yuva Yodha 2026</a:t>
            </a:r>
          </a:p>
        </p:txBody>
      </p:sp>
      <p:sp>
        <p:nvSpPr>
          <p:cNvPr id="31" name="TextBox 30"/>
          <p:cNvSpPr txBox="1"/>
          <p:nvPr/>
        </p:nvSpPr>
        <p:spPr>
          <a:xfrm>
            <a:off x="7315200" y="6309360"/>
            <a:ext cx="4114800" cy="36576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32" name="TextBox 31"/>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THE PIPELINE</a:t>
            </a:r>
          </a:p>
        </p:txBody>
      </p:sp>
      <p:sp>
        <p:nvSpPr>
          <p:cNvPr id="3" name="TextBox 2"/>
          <p:cNvSpPr txBox="1"/>
          <p:nvPr/>
        </p:nvSpPr>
        <p:spPr>
          <a:xfrm>
            <a:off x="731520" y="822960"/>
            <a:ext cx="10058400" cy="640080"/>
          </a:xfrm>
          <a:prstGeom prst="rect">
            <a:avLst/>
          </a:prstGeom>
          <a:noFill/>
        </p:spPr>
        <p:txBody>
          <a:bodyPr wrap="square">
            <a:spAutoFit/>
          </a:bodyPr>
          <a:lstStyle/>
          <a:p>
            <a:r>
              <a:rPr sz="2800" b="1" i="0">
                <a:solidFill>
                  <a:srgbClr val="F1F5F9"/>
                </a:solidFill>
                <a:latin typeface="Outfit"/>
              </a:rPr>
              <a:t>From raw observations to an </a:t>
            </a:r>
            <a:r>
              <a:rPr sz="2800" b="1" i="0">
                <a:solidFill>
                  <a:srgbClr val="34D399"/>
                </a:solidFill>
                <a:latin typeface="Outfit"/>
              </a:rPr>
              <a:t>explainable</a:t>
            </a:r>
            <a:r>
              <a:rPr sz="2800" b="1" i="0">
                <a:solidFill>
                  <a:srgbClr val="F1F5F9"/>
                </a:solidFill>
                <a:latin typeface="Outfit"/>
              </a:rPr>
              <a:t> irrigation decision.</a:t>
            </a:r>
          </a:p>
        </p:txBody>
      </p:sp>
      <p:pic>
        <p:nvPicPr>
          <p:cNvPr id="4" name="Picture 3" descr="pipeline_architecture.jpg"/>
          <p:cNvPicPr>
            <a:picLocks noChangeAspect="1"/>
          </p:cNvPicPr>
          <p:nvPr/>
        </p:nvPicPr>
        <p:blipFill>
          <a:blip r:embed="rId2"/>
          <a:stretch>
            <a:fillRect/>
          </a:stretch>
        </p:blipFill>
        <p:spPr>
          <a:xfrm>
            <a:off x="457200" y="1645920"/>
            <a:ext cx="11247120" cy="6277462"/>
          </a:xfrm>
          <a:prstGeom prst="rect">
            <a:avLst/>
          </a:prstGeom>
        </p:spPr>
      </p:pic>
      <p:sp>
        <p:nvSpPr>
          <p:cNvPr id="5" name="TextBox 4"/>
          <p:cNvSpPr txBox="1"/>
          <p:nvPr/>
        </p:nvSpPr>
        <p:spPr>
          <a:xfrm>
            <a:off x="1371600" y="5669280"/>
            <a:ext cx="9144000" cy="365760"/>
          </a:xfrm>
          <a:prstGeom prst="rect">
            <a:avLst/>
          </a:prstGeom>
          <a:noFill/>
        </p:spPr>
        <p:txBody>
          <a:bodyPr wrap="square">
            <a:spAutoFit/>
          </a:bodyPr>
          <a:lstStyle/>
          <a:p>
            <a:pPr algn="ctr"/>
            <a:r>
              <a:rPr sz="1300" b="0" i="1">
                <a:solidFill>
                  <a:srgbClr val="94A3B8"/>
                </a:solidFill>
                <a:latin typeface="Plus Jakarta Sans"/>
              </a:rPr>
              <a:t>Every recommendation is traceable: input → calculation → assumption → output.</a:t>
            </a:r>
          </a:p>
        </p:txBody>
      </p:sp>
      <p:sp>
        <p:nvSpPr>
          <p:cNvPr id="6" name="TextBox 5"/>
          <p:cNvSpPr txBox="1"/>
          <p:nvPr/>
        </p:nvSpPr>
        <p:spPr>
          <a:xfrm>
            <a:off x="731520" y="6309360"/>
            <a:ext cx="4572000" cy="365760"/>
          </a:xfrm>
          <a:prstGeom prst="rect">
            <a:avLst/>
          </a:prstGeom>
          <a:noFill/>
        </p:spPr>
        <p:txBody>
          <a:bodyPr wrap="square">
            <a:spAutoFit/>
          </a:bodyPr>
          <a:lstStyle/>
          <a:p>
            <a:pPr algn="l"/>
            <a:r>
              <a:rPr sz="900" b="0" i="0">
                <a:solidFill>
                  <a:srgbClr val="64748B"/>
                </a:solidFill>
                <a:latin typeface="Plus Jakarta Sans"/>
              </a:rPr>
              <a:t>KISAN URJA — Yuva Yodha 2026</a:t>
            </a:r>
          </a:p>
        </p:txBody>
      </p:sp>
      <p:sp>
        <p:nvSpPr>
          <p:cNvPr id="7" name="TextBox 6"/>
          <p:cNvSpPr txBox="1"/>
          <p:nvPr/>
        </p:nvSpPr>
        <p:spPr>
          <a:xfrm>
            <a:off x="7315200" y="6309360"/>
            <a:ext cx="4114800" cy="36576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8" name="TextBox 7"/>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THE SCIENCE</a:t>
            </a:r>
          </a:p>
        </p:txBody>
      </p:sp>
      <p:sp>
        <p:nvSpPr>
          <p:cNvPr id="3" name="TextBox 2"/>
          <p:cNvSpPr txBox="1"/>
          <p:nvPr/>
        </p:nvSpPr>
        <p:spPr>
          <a:xfrm>
            <a:off x="731520" y="822960"/>
            <a:ext cx="10058400" cy="640080"/>
          </a:xfrm>
          <a:prstGeom prst="rect">
            <a:avLst/>
          </a:prstGeom>
          <a:noFill/>
        </p:spPr>
        <p:txBody>
          <a:bodyPr wrap="square">
            <a:spAutoFit/>
          </a:bodyPr>
          <a:lstStyle/>
          <a:p>
            <a:r>
              <a:rPr sz="2800" b="1" i="0">
                <a:solidFill>
                  <a:srgbClr val="F1F5F9"/>
                </a:solidFill>
                <a:latin typeface="Outfit"/>
              </a:rPr>
              <a:t>Built on </a:t>
            </a:r>
            <a:r>
              <a:rPr sz="2800" b="1" i="0">
                <a:solidFill>
                  <a:srgbClr val="34D399"/>
                </a:solidFill>
                <a:latin typeface="Outfit"/>
              </a:rPr>
              <a:t>agricultural physics</a:t>
            </a:r>
            <a:r>
              <a:rPr sz="2800" b="1" i="0">
                <a:solidFill>
                  <a:srgbClr val="F1F5F9"/>
                </a:solidFill>
                <a:latin typeface="Outfit"/>
              </a:rPr>
              <a:t>—not a black box.</a:t>
            </a:r>
          </a:p>
        </p:txBody>
      </p:sp>
      <p:sp>
        <p:nvSpPr>
          <p:cNvPr id="4" name="TextBox 3"/>
          <p:cNvSpPr txBox="1"/>
          <p:nvPr/>
        </p:nvSpPr>
        <p:spPr>
          <a:xfrm>
            <a:off x="731520" y="1645920"/>
            <a:ext cx="5486400" cy="4114800"/>
          </a:xfrm>
          <a:prstGeom prst="rect">
            <a:avLst/>
          </a:prstGeom>
          <a:noFill/>
        </p:spPr>
        <p:txBody>
          <a:bodyPr wrap="square">
            <a:spAutoFit/>
          </a:bodyPr>
          <a:lstStyle/>
          <a:p>
            <a:pPr>
              <a:spcBef>
                <a:spcPts val="600"/>
              </a:spcBef>
              <a:spcAft>
                <a:spcPts val="400"/>
              </a:spcAft>
            </a:pPr>
            <a:r>
              <a:rPr sz="800">
                <a:solidFill>
                  <a:srgbClr val="10B981"/>
                </a:solidFill>
                <a:latin typeface="Plus Jakarta Sans"/>
              </a:rPr>
              <a:t>● </a:t>
            </a:r>
            <a:r>
              <a:rPr sz="1200" b="1">
                <a:solidFill>
                  <a:srgbClr val="F1F5F9"/>
                </a:solidFill>
                <a:latin typeface="Plus Jakarta Sans"/>
              </a:rPr>
              <a:t>FAO-56 Penman-Monteith</a:t>
            </a:r>
            <a:r>
              <a:rPr sz="1200">
                <a:solidFill>
                  <a:srgbClr val="94A3B8"/>
                </a:solidFill>
                <a:latin typeface="Plus Jakarta Sans"/>
              </a:rPr>
              <a:t> — deterministic reference evapotranspiration from net radiation, vapor pressure deficit, wind speed, and psychrometric constants.</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Saxton-Rawls pedotransfer</a:t>
            </a:r>
            <a:r>
              <a:rPr sz="1200">
                <a:solidFill>
                  <a:srgbClr val="94A3B8"/>
                </a:solidFill>
                <a:latin typeface="Plus Jakarta Sans"/>
              </a:rPr>
              <a:t> — converts SoilGrids texture (sand%, clay%) into field capacity (θFC), wilting point (θWP), and available water capacity.</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Root-zone water balance</a:t>
            </a:r>
            <a:r>
              <a:rPr sz="1200">
                <a:solidFill>
                  <a:srgbClr val="94A3B8"/>
                </a:solidFill>
                <a:latin typeface="Plus Jakarta Sans"/>
              </a:rPr>
              <a:t> — daily depletion mass model tracking Dr against USDA-SCS effective rainfall and adjusted ETc.</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Crop water stress</a:t>
            </a:r>
            <a:r>
              <a:rPr sz="1200">
                <a:solidFill>
                  <a:srgbClr val="94A3B8"/>
                </a:solidFill>
                <a:latin typeface="Plus Jakarta Sans"/>
              </a:rPr>
              <a:t> — Kₛ coefficient and CWSI derived from depletion vs. readily-available water thresholds.</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Effective rainfall</a:t>
            </a:r>
            <a:r>
              <a:rPr sz="1200">
                <a:solidFill>
                  <a:srgbClr val="94A3B8"/>
                </a:solidFill>
                <a:latin typeface="Plus Jakarta Sans"/>
              </a:rPr>
              <a:t> — USDA-SCS methodology separating surface runoff from infiltrating precipitation.</a:t>
            </a:r>
          </a:p>
        </p:txBody>
      </p:sp>
      <p:sp>
        <p:nvSpPr>
          <p:cNvPr id="5" name="Rounded Rectangle 4"/>
          <p:cNvSpPr/>
          <p:nvPr/>
        </p:nvSpPr>
        <p:spPr>
          <a:xfrm>
            <a:off x="6583680" y="1645920"/>
            <a:ext cx="5029200" cy="1828800"/>
          </a:xfrm>
          <a:prstGeom prst="roundRect">
            <a:avLst/>
          </a:prstGeom>
          <a:solidFill>
            <a:srgbClr val="0A101E"/>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0" y="1783080"/>
            <a:ext cx="4480560" cy="274320"/>
          </a:xfrm>
          <a:prstGeom prst="rect">
            <a:avLst/>
          </a:prstGeom>
          <a:noFill/>
        </p:spPr>
        <p:txBody>
          <a:bodyPr wrap="square">
            <a:spAutoFit/>
          </a:bodyPr>
          <a:lstStyle/>
          <a:p>
            <a:pPr algn="ctr"/>
            <a:r>
              <a:rPr sz="900" b="0" i="0">
                <a:solidFill>
                  <a:srgbClr val="64748B"/>
                </a:solidFill>
                <a:latin typeface="JetBrains Mono"/>
              </a:rPr>
              <a:t>FAO-56 Penman-Monteith Reference ET₀</a:t>
            </a:r>
          </a:p>
        </p:txBody>
      </p:sp>
      <p:sp>
        <p:nvSpPr>
          <p:cNvPr id="7" name="TextBox 6"/>
          <p:cNvSpPr txBox="1"/>
          <p:nvPr/>
        </p:nvSpPr>
        <p:spPr>
          <a:xfrm>
            <a:off x="6858000" y="2103120"/>
            <a:ext cx="4480560" cy="548640"/>
          </a:xfrm>
          <a:prstGeom prst="rect">
            <a:avLst/>
          </a:prstGeom>
          <a:noFill/>
        </p:spPr>
        <p:txBody>
          <a:bodyPr wrap="square">
            <a:spAutoFit/>
          </a:bodyPr>
          <a:lstStyle/>
          <a:p>
            <a:pPr algn="ctr"/>
            <a:r>
              <a:rPr sz="1100" b="0" i="0">
                <a:solidFill>
                  <a:srgbClr val="34D399"/>
                </a:solidFill>
                <a:latin typeface="JetBrains Mono"/>
              </a:rPr>
              <a:t>ET₀ = [0.408·Δ·(Rn − G) + γ·(900/(T+273))·u₂·(eₛ − eₐ)]</a:t>
            </a:r>
          </a:p>
        </p:txBody>
      </p:sp>
      <p:sp>
        <p:nvSpPr>
          <p:cNvPr id="8" name="TextBox 7"/>
          <p:cNvSpPr txBox="1"/>
          <p:nvPr/>
        </p:nvSpPr>
        <p:spPr>
          <a:xfrm>
            <a:off x="6858000" y="2651760"/>
            <a:ext cx="4480560" cy="457200"/>
          </a:xfrm>
          <a:prstGeom prst="rect">
            <a:avLst/>
          </a:prstGeom>
          <a:noFill/>
        </p:spPr>
        <p:txBody>
          <a:bodyPr wrap="square">
            <a:spAutoFit/>
          </a:bodyPr>
          <a:lstStyle/>
          <a:p>
            <a:pPr algn="ctr"/>
            <a:r>
              <a:rPr sz="1100" b="0" i="0">
                <a:solidFill>
                  <a:srgbClr val="F59E0B"/>
                </a:solidFill>
                <a:latin typeface="JetBrains Mono"/>
              </a:rPr>
              <a:t>/ [Δ + γ·(1 + 0.34·u₂)]</a:t>
            </a:r>
          </a:p>
        </p:txBody>
      </p:sp>
      <p:sp>
        <p:nvSpPr>
          <p:cNvPr id="9" name="Rounded Rectangle 8"/>
          <p:cNvSpPr/>
          <p:nvPr/>
        </p:nvSpPr>
        <p:spPr>
          <a:xfrm>
            <a:off x="6583680" y="3749040"/>
            <a:ext cx="5029200" cy="1463040"/>
          </a:xfrm>
          <a:prstGeom prst="roundRect">
            <a:avLst/>
          </a:prstGeom>
          <a:solidFill>
            <a:srgbClr val="0A101E"/>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3886200"/>
            <a:ext cx="4480560" cy="274320"/>
          </a:xfrm>
          <a:prstGeom prst="rect">
            <a:avLst/>
          </a:prstGeom>
          <a:noFill/>
        </p:spPr>
        <p:txBody>
          <a:bodyPr wrap="square">
            <a:spAutoFit/>
          </a:bodyPr>
          <a:lstStyle/>
          <a:p>
            <a:pPr algn="ctr"/>
            <a:r>
              <a:rPr sz="900" b="0" i="0">
                <a:solidFill>
                  <a:srgbClr val="64748B"/>
                </a:solidFill>
                <a:latin typeface="JetBrains Mono"/>
              </a:rPr>
              <a:t>Root-Zone Depletion &amp; Stress</a:t>
            </a:r>
          </a:p>
        </p:txBody>
      </p:sp>
      <p:sp>
        <p:nvSpPr>
          <p:cNvPr id="11" name="TextBox 10"/>
          <p:cNvSpPr txBox="1"/>
          <p:nvPr/>
        </p:nvSpPr>
        <p:spPr>
          <a:xfrm>
            <a:off x="6858000" y="4206240"/>
            <a:ext cx="4480560" cy="365760"/>
          </a:xfrm>
          <a:prstGeom prst="rect">
            <a:avLst/>
          </a:prstGeom>
          <a:noFill/>
        </p:spPr>
        <p:txBody>
          <a:bodyPr wrap="square">
            <a:spAutoFit/>
          </a:bodyPr>
          <a:lstStyle/>
          <a:p>
            <a:pPr algn="ctr"/>
            <a:r>
              <a:rPr sz="1100" b="0" i="0">
                <a:solidFill>
                  <a:srgbClr val="34D399"/>
                </a:solidFill>
                <a:latin typeface="JetBrains Mono"/>
              </a:rPr>
              <a:t>Dr,i = Dr,i−1 − Peff − I + ETc,adj</a:t>
            </a:r>
          </a:p>
        </p:txBody>
      </p:sp>
      <p:sp>
        <p:nvSpPr>
          <p:cNvPr id="12" name="TextBox 11"/>
          <p:cNvSpPr txBox="1"/>
          <p:nvPr/>
        </p:nvSpPr>
        <p:spPr>
          <a:xfrm>
            <a:off x="6858000" y="4663440"/>
            <a:ext cx="4480560" cy="365760"/>
          </a:xfrm>
          <a:prstGeom prst="rect">
            <a:avLst/>
          </a:prstGeom>
          <a:noFill/>
        </p:spPr>
        <p:txBody>
          <a:bodyPr wrap="square">
            <a:spAutoFit/>
          </a:bodyPr>
          <a:lstStyle/>
          <a:p>
            <a:pPr algn="ctr"/>
            <a:r>
              <a:rPr sz="1300" b="1" i="0">
                <a:solidFill>
                  <a:srgbClr val="F59E0B"/>
                </a:solidFill>
                <a:latin typeface="JetBrains Mono"/>
              </a:rPr>
              <a:t>CWSI = 1 − Kₛ</a:t>
            </a:r>
          </a:p>
        </p:txBody>
      </p:sp>
      <p:sp>
        <p:nvSpPr>
          <p:cNvPr id="13" name="TextBox 12"/>
          <p:cNvSpPr txBox="1"/>
          <p:nvPr/>
        </p:nvSpPr>
        <p:spPr>
          <a:xfrm>
            <a:off x="6583680" y="5486400"/>
            <a:ext cx="5029200" cy="457200"/>
          </a:xfrm>
          <a:prstGeom prst="rect">
            <a:avLst/>
          </a:prstGeom>
          <a:noFill/>
        </p:spPr>
        <p:txBody>
          <a:bodyPr wrap="square">
            <a:spAutoFit/>
          </a:bodyPr>
          <a:lstStyle/>
          <a:p>
            <a:pPr algn="ctr"/>
            <a:r>
              <a:rPr sz="1100" b="0" i="1">
                <a:solidFill>
                  <a:srgbClr val="94A3B8"/>
                </a:solidFill>
                <a:latin typeface="Plus Jakarta Sans"/>
              </a:rPr>
              <a:t>Scientific calculations remain traceable from
input → calculation → assumption → output.</a:t>
            </a:r>
          </a:p>
        </p:txBody>
      </p:sp>
      <p:sp>
        <p:nvSpPr>
          <p:cNvPr id="14" name="TextBox 13"/>
          <p:cNvSpPr txBox="1"/>
          <p:nvPr/>
        </p:nvSpPr>
        <p:spPr>
          <a:xfrm>
            <a:off x="731520" y="6309360"/>
            <a:ext cx="4572000" cy="365760"/>
          </a:xfrm>
          <a:prstGeom prst="rect">
            <a:avLst/>
          </a:prstGeom>
          <a:noFill/>
        </p:spPr>
        <p:txBody>
          <a:bodyPr wrap="square">
            <a:spAutoFit/>
          </a:bodyPr>
          <a:lstStyle/>
          <a:p>
            <a:pPr algn="l"/>
            <a:r>
              <a:rPr sz="900" b="0" i="0">
                <a:solidFill>
                  <a:srgbClr val="64748B"/>
                </a:solidFill>
                <a:latin typeface="Plus Jakarta Sans"/>
              </a:rPr>
              <a:t>KISAN URJA — Yuva Yodha 2026</a:t>
            </a:r>
          </a:p>
        </p:txBody>
      </p:sp>
      <p:sp>
        <p:nvSpPr>
          <p:cNvPr id="15" name="TextBox 14"/>
          <p:cNvSpPr txBox="1"/>
          <p:nvPr/>
        </p:nvSpPr>
        <p:spPr>
          <a:xfrm>
            <a:off x="7315200" y="6309360"/>
            <a:ext cx="4114800" cy="36576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16" name="TextBox 15"/>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F59E0B"/>
                </a:solidFill>
                <a:latin typeface="Outfit"/>
              </a:rPr>
              <a:t>THE ENERGY INNOVATION</a:t>
            </a:r>
          </a:p>
        </p:txBody>
      </p:sp>
      <p:sp>
        <p:nvSpPr>
          <p:cNvPr id="3" name="TextBox 2"/>
          <p:cNvSpPr txBox="1"/>
          <p:nvPr/>
        </p:nvSpPr>
        <p:spPr>
          <a:xfrm>
            <a:off x="731520" y="822960"/>
            <a:ext cx="10058400" cy="640080"/>
          </a:xfrm>
          <a:prstGeom prst="rect">
            <a:avLst/>
          </a:prstGeom>
          <a:noFill/>
        </p:spPr>
        <p:txBody>
          <a:bodyPr wrap="square">
            <a:spAutoFit/>
          </a:bodyPr>
          <a:lstStyle/>
          <a:p>
            <a:r>
              <a:rPr sz="3000" b="1" i="0">
                <a:solidFill>
                  <a:srgbClr val="F1F5F9"/>
                </a:solidFill>
                <a:latin typeface="Outfit"/>
              </a:rPr>
              <a:t>Water intelligence meets </a:t>
            </a:r>
            <a:r>
              <a:rPr sz="3000" b="1" i="0">
                <a:solidFill>
                  <a:srgbClr val="F59E0B"/>
                </a:solidFill>
                <a:latin typeface="Outfit"/>
              </a:rPr>
              <a:t>solar intelligence</a:t>
            </a:r>
            <a:r>
              <a:rPr sz="3000" b="1" i="0">
                <a:solidFill>
                  <a:srgbClr val="F1F5F9"/>
                </a:solidFill>
                <a:latin typeface="Outfit"/>
              </a:rPr>
              <a:t>.</a:t>
            </a:r>
          </a:p>
        </p:txBody>
      </p:sp>
      <p:sp>
        <p:nvSpPr>
          <p:cNvPr id="4" name="TextBox 3"/>
          <p:cNvSpPr txBox="1"/>
          <p:nvPr/>
        </p:nvSpPr>
        <p:spPr>
          <a:xfrm>
            <a:off x="731520" y="1645920"/>
            <a:ext cx="5303520" cy="914400"/>
          </a:xfrm>
          <a:prstGeom prst="rect">
            <a:avLst/>
          </a:prstGeom>
          <a:noFill/>
        </p:spPr>
        <p:txBody>
          <a:bodyPr wrap="square">
            <a:spAutoFit/>
          </a:bodyPr>
          <a:lstStyle/>
          <a:p>
            <a:pPr algn="l"/>
            <a:r>
              <a:rPr sz="1300" b="0" i="0">
                <a:solidFill>
                  <a:srgbClr val="94A3B8"/>
                </a:solidFill>
                <a:latin typeface="Plus Jakarta Sans"/>
              </a:rPr>
              <a:t>Instead of treating irrigation demand and energy cost as separate decisions, KISAN URJA connects them. The platform models when solar PV generation is sufficient to power irrigation pumps—synchronizing water delivery with available renewable energy.</a:t>
            </a:r>
          </a:p>
        </p:txBody>
      </p:sp>
      <p:sp>
        <p:nvSpPr>
          <p:cNvPr id="5" name="Rounded Rectangle 4"/>
          <p:cNvSpPr/>
          <p:nvPr/>
        </p:nvSpPr>
        <p:spPr>
          <a:xfrm>
            <a:off x="731520" y="2743200"/>
            <a:ext cx="5029200" cy="2743200"/>
          </a:xfrm>
          <a:prstGeom prst="roundRect">
            <a:avLst/>
          </a:prstGeom>
          <a:solidFill>
            <a:srgbClr val="1A1A0A"/>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880360"/>
            <a:ext cx="4572000" cy="274320"/>
          </a:xfrm>
          <a:prstGeom prst="rect">
            <a:avLst/>
          </a:prstGeom>
          <a:noFill/>
        </p:spPr>
        <p:txBody>
          <a:bodyPr wrap="square">
            <a:spAutoFit/>
          </a:bodyPr>
          <a:lstStyle/>
          <a:p>
            <a:pPr algn="l"/>
            <a:r>
              <a:rPr sz="1100" b="1" i="0">
                <a:solidFill>
                  <a:srgbClr val="F59E0B"/>
                </a:solidFill>
                <a:latin typeface="Outfit"/>
              </a:rPr>
              <a:t>DECISION FUSION</a:t>
            </a:r>
          </a:p>
        </p:txBody>
      </p:sp>
      <p:sp>
        <p:nvSpPr>
          <p:cNvPr id="7" name="TextBox 6"/>
          <p:cNvSpPr txBox="1"/>
          <p:nvPr/>
        </p:nvSpPr>
        <p:spPr>
          <a:xfrm>
            <a:off x="1188720" y="3200400"/>
            <a:ext cx="4389120" cy="1828800"/>
          </a:xfrm>
          <a:prstGeom prst="rect">
            <a:avLst/>
          </a:prstGeom>
          <a:noFill/>
        </p:spPr>
        <p:txBody>
          <a:bodyPr wrap="square">
            <a:spAutoFit/>
          </a:bodyPr>
          <a:lstStyle/>
          <a:p>
            <a:pPr>
              <a:spcBef>
                <a:spcPts val="100"/>
              </a:spcBef>
            </a:pPr>
            <a:r>
              <a:rPr sz="1100" b="0" i="0">
                <a:solidFill>
                  <a:srgbClr val="94A3B8"/>
                </a:solidFill>
                <a:latin typeface="Plus Jakarta Sans"/>
              </a:rPr>
              <a:t>💧  Crop Water Need</a:t>
            </a:r>
          </a:p>
          <a:p>
            <a:pPr>
              <a:spcBef>
                <a:spcPts val="100"/>
              </a:spcBef>
            </a:pPr>
            <a:r>
              <a:rPr sz="1100" b="0" i="0">
                <a:solidFill>
                  <a:srgbClr val="64748B"/>
                </a:solidFill>
                <a:latin typeface="Plus Jakarta Sans"/>
              </a:rPr>
              <a:t>  +</a:t>
            </a:r>
          </a:p>
          <a:p>
            <a:pPr>
              <a:spcBef>
                <a:spcPts val="100"/>
              </a:spcBef>
            </a:pPr>
            <a:r>
              <a:rPr sz="1100" b="0" i="0">
                <a:solidFill>
                  <a:srgbClr val="94A3B8"/>
                </a:solidFill>
                <a:latin typeface="Plus Jakarta Sans"/>
              </a:rPr>
              <a:t>🪨  Soil Water Status</a:t>
            </a:r>
          </a:p>
          <a:p>
            <a:pPr>
              <a:spcBef>
                <a:spcPts val="100"/>
              </a:spcBef>
            </a:pPr>
            <a:r>
              <a:rPr sz="1100" b="0" i="0">
                <a:solidFill>
                  <a:srgbClr val="64748B"/>
                </a:solidFill>
                <a:latin typeface="Plus Jakarta Sans"/>
              </a:rPr>
              <a:t>  +</a:t>
            </a:r>
          </a:p>
          <a:p>
            <a:pPr>
              <a:spcBef>
                <a:spcPts val="100"/>
              </a:spcBef>
            </a:pPr>
            <a:r>
              <a:rPr sz="1100" b="0" i="0">
                <a:solidFill>
                  <a:srgbClr val="94A3B8"/>
                </a:solidFill>
                <a:latin typeface="Plus Jakarta Sans"/>
              </a:rPr>
              <a:t>☀️  Solar Availability</a:t>
            </a:r>
          </a:p>
          <a:p>
            <a:pPr>
              <a:spcBef>
                <a:spcPts val="100"/>
              </a:spcBef>
            </a:pPr>
            <a:r>
              <a:rPr sz="1100" b="0" i="0">
                <a:solidFill>
                  <a:srgbClr val="64748B"/>
                </a:solidFill>
                <a:latin typeface="Plus Jakarta Sans"/>
              </a:rPr>
              <a:t>  +</a:t>
            </a:r>
          </a:p>
          <a:p>
            <a:pPr>
              <a:spcBef>
                <a:spcPts val="100"/>
              </a:spcBef>
            </a:pPr>
            <a:r>
              <a:rPr sz="1100" b="0" i="0">
                <a:solidFill>
                  <a:srgbClr val="94A3B8"/>
                </a:solidFill>
                <a:latin typeface="Plus Jakarta Sans"/>
              </a:rPr>
              <a:t>⚙️  Pump Capacity</a:t>
            </a:r>
          </a:p>
          <a:p>
            <a:pPr>
              <a:spcBef>
                <a:spcPts val="100"/>
              </a:spcBef>
            </a:pPr>
            <a:r>
              <a:rPr sz="1100" b="0" i="0">
                <a:solidFill>
                  <a:srgbClr val="64748B"/>
                </a:solidFill>
                <a:latin typeface="Plus Jakarta Sans"/>
              </a:rPr>
              <a:t>  +</a:t>
            </a:r>
          </a:p>
          <a:p>
            <a:pPr>
              <a:spcBef>
                <a:spcPts val="100"/>
              </a:spcBef>
            </a:pPr>
            <a:r>
              <a:rPr sz="1100" b="0" i="0">
                <a:solidFill>
                  <a:srgbClr val="94A3B8"/>
                </a:solidFill>
                <a:latin typeface="Plus Jakarta Sans"/>
              </a:rPr>
              <a:t>💰  Energy Cost / Tariff</a:t>
            </a:r>
          </a:p>
        </p:txBody>
      </p:sp>
      <p:sp>
        <p:nvSpPr>
          <p:cNvPr id="8" name="TextBox 7"/>
          <p:cNvSpPr txBox="1"/>
          <p:nvPr/>
        </p:nvSpPr>
        <p:spPr>
          <a:xfrm>
            <a:off x="1188720" y="5029200"/>
            <a:ext cx="4389120" cy="320040"/>
          </a:xfrm>
          <a:prstGeom prst="rect">
            <a:avLst/>
          </a:prstGeom>
          <a:noFill/>
        </p:spPr>
        <p:txBody>
          <a:bodyPr wrap="square">
            <a:spAutoFit/>
          </a:bodyPr>
          <a:lstStyle/>
          <a:p>
            <a:pPr algn="l"/>
            <a:r>
              <a:rPr sz="1300" b="1" i="0">
                <a:solidFill>
                  <a:srgbClr val="F59E0B"/>
                </a:solidFill>
                <a:latin typeface="Outfit"/>
              </a:rPr>
              <a:t>→  OPTIMAL IRRIGATION WINDOW</a:t>
            </a:r>
          </a:p>
        </p:txBody>
      </p:sp>
      <p:pic>
        <p:nvPicPr>
          <p:cNvPr id="9" name="Picture 8" descr="solar_timeline.jpg"/>
          <p:cNvPicPr>
            <a:picLocks noChangeAspect="1"/>
          </p:cNvPicPr>
          <p:nvPr/>
        </p:nvPicPr>
        <p:blipFill>
          <a:blip r:embed="rId2"/>
          <a:stretch>
            <a:fillRect/>
          </a:stretch>
        </p:blipFill>
        <p:spPr>
          <a:xfrm>
            <a:off x="6217920" y="1645920"/>
            <a:ext cx="5486400" cy="3062177"/>
          </a:xfrm>
          <a:prstGeom prst="rect">
            <a:avLst/>
          </a:prstGeom>
        </p:spPr>
      </p:pic>
      <p:sp>
        <p:nvSpPr>
          <p:cNvPr id="10" name="TextBox 9"/>
          <p:cNvSpPr txBox="1"/>
          <p:nvPr/>
        </p:nvSpPr>
        <p:spPr>
          <a:xfrm>
            <a:off x="6217920" y="5212080"/>
            <a:ext cx="5486400" cy="731520"/>
          </a:xfrm>
          <a:prstGeom prst="rect">
            <a:avLst/>
          </a:prstGeom>
          <a:noFill/>
        </p:spPr>
        <p:txBody>
          <a:bodyPr wrap="square">
            <a:spAutoFit/>
          </a:bodyPr>
          <a:lstStyle/>
          <a:p>
            <a:pPr algn="l"/>
            <a:r>
              <a:rPr sz="900" b="0" i="1">
                <a:solidFill>
                  <a:srgbClr val="64748B"/>
                </a:solidFill>
                <a:latin typeface="Plus Jakarta Sans"/>
              </a:rPr>
              <a:t>Demo profiles model savings scenarios (e.g., ₹94,200/yr for a 5HP solar pump in Haryana). These represent modeled scenarios, not independently measured field results.</a:t>
            </a:r>
          </a:p>
        </p:txBody>
      </p:sp>
      <p:sp>
        <p:nvSpPr>
          <p:cNvPr id="11" name="TextBox 10"/>
          <p:cNvSpPr txBox="1"/>
          <p:nvPr/>
        </p:nvSpPr>
        <p:spPr>
          <a:xfrm>
            <a:off x="731520" y="6309360"/>
            <a:ext cx="4572000" cy="365760"/>
          </a:xfrm>
          <a:prstGeom prst="rect">
            <a:avLst/>
          </a:prstGeom>
          <a:noFill/>
        </p:spPr>
        <p:txBody>
          <a:bodyPr wrap="square">
            <a:spAutoFit/>
          </a:bodyPr>
          <a:lstStyle/>
          <a:p>
            <a:pPr algn="l"/>
            <a:r>
              <a:rPr sz="900" b="0" i="0">
                <a:solidFill>
                  <a:srgbClr val="64748B"/>
                </a:solidFill>
                <a:latin typeface="Plus Jakarta Sans"/>
              </a:rPr>
              <a:t>KISAN URJA — Yuva Yodha 2026</a:t>
            </a:r>
          </a:p>
        </p:txBody>
      </p:sp>
      <p:sp>
        <p:nvSpPr>
          <p:cNvPr id="12" name="TextBox 11"/>
          <p:cNvSpPr txBox="1"/>
          <p:nvPr/>
        </p:nvSpPr>
        <p:spPr>
          <a:xfrm>
            <a:off x="7315200" y="6309360"/>
            <a:ext cx="4114800" cy="36576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13" name="TextBox 12"/>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PRODUCT — LIVE DEMO</a:t>
            </a:r>
          </a:p>
        </p:txBody>
      </p:sp>
      <p:sp>
        <p:nvSpPr>
          <p:cNvPr id="3" name="TextBox 2"/>
          <p:cNvSpPr txBox="1"/>
          <p:nvPr/>
        </p:nvSpPr>
        <p:spPr>
          <a:xfrm>
            <a:off x="731520" y="822960"/>
            <a:ext cx="10058400" cy="640080"/>
          </a:xfrm>
          <a:prstGeom prst="rect">
            <a:avLst/>
          </a:prstGeom>
          <a:noFill/>
        </p:spPr>
        <p:txBody>
          <a:bodyPr wrap="square">
            <a:spAutoFit/>
          </a:bodyPr>
          <a:lstStyle/>
          <a:p>
            <a:r>
              <a:rPr sz="2800" b="1" i="0">
                <a:solidFill>
                  <a:srgbClr val="F1F5F9"/>
                </a:solidFill>
                <a:latin typeface="Outfit"/>
              </a:rPr>
              <a:t>An intelligence console </a:t>
            </a:r>
            <a:r>
              <a:rPr sz="2800" b="1" i="0">
                <a:solidFill>
                  <a:srgbClr val="34D399"/>
                </a:solidFill>
                <a:latin typeface="Outfit"/>
              </a:rPr>
              <a:t>built for the farmer</a:t>
            </a:r>
            <a:r>
              <a:rPr sz="2800" b="1" i="0">
                <a:solidFill>
                  <a:srgbClr val="F1F5F9"/>
                </a:solidFill>
                <a:latin typeface="Outfit"/>
              </a:rPr>
              <a:t>.</a:t>
            </a:r>
          </a:p>
        </p:txBody>
      </p:sp>
      <p:pic>
        <p:nvPicPr>
          <p:cNvPr id="4" name="Picture 3" descr="dashboard_mockup.jpg"/>
          <p:cNvPicPr>
            <a:picLocks noChangeAspect="1"/>
          </p:cNvPicPr>
          <p:nvPr/>
        </p:nvPicPr>
        <p:blipFill>
          <a:blip r:embed="rId2"/>
          <a:stretch>
            <a:fillRect/>
          </a:stretch>
        </p:blipFill>
        <p:spPr>
          <a:xfrm>
            <a:off x="457200" y="1645920"/>
            <a:ext cx="6400800" cy="3572540"/>
          </a:xfrm>
          <a:prstGeom prst="rect">
            <a:avLst/>
          </a:prstGeom>
        </p:spPr>
      </p:pic>
      <p:sp>
        <p:nvSpPr>
          <p:cNvPr id="5" name="Rounded Rectangle 4"/>
          <p:cNvSpPr/>
          <p:nvPr/>
        </p:nvSpPr>
        <p:spPr>
          <a:xfrm>
            <a:off x="7132320" y="1645920"/>
            <a:ext cx="4572000" cy="804672"/>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69480" y="1719072"/>
            <a:ext cx="4297680" cy="685800"/>
          </a:xfrm>
          <a:prstGeom prst="rect">
            <a:avLst/>
          </a:prstGeom>
          <a:noFill/>
        </p:spPr>
        <p:txBody>
          <a:bodyPr wrap="square">
            <a:spAutoFit/>
          </a:bodyPr>
          <a:lstStyle/>
          <a:p>
            <a:r>
              <a:rPr sz="1100" b="1" i="0">
                <a:solidFill>
                  <a:srgbClr val="34D399"/>
                </a:solidFill>
                <a:latin typeface="Outfit"/>
              </a:rPr>
              <a:t>👨‍🌾 Farmer Identity Card</a:t>
            </a:r>
          </a:p>
          <a:p>
            <a:pPr>
              <a:spcBef>
                <a:spcPts val="200"/>
              </a:spcBef>
            </a:pPr>
            <a:r>
              <a:rPr sz="900" b="0" i="0">
                <a:solidFill>
                  <a:srgbClr val="94A3B8"/>
                </a:solidFill>
                <a:latin typeface="Plus Jakarta Sans"/>
              </a:rPr>
              <a:t>Full profile with state badge, farm name, solar pump specs, and modeled savings. Multi-state switching.</a:t>
            </a:r>
          </a:p>
        </p:txBody>
      </p:sp>
      <p:sp>
        <p:nvSpPr>
          <p:cNvPr id="7" name="Rounded Rectangle 6"/>
          <p:cNvSpPr/>
          <p:nvPr/>
        </p:nvSpPr>
        <p:spPr>
          <a:xfrm>
            <a:off x="7132320" y="2560320"/>
            <a:ext cx="4572000" cy="804672"/>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2633472"/>
            <a:ext cx="4297680" cy="685800"/>
          </a:xfrm>
          <a:prstGeom prst="rect">
            <a:avLst/>
          </a:prstGeom>
          <a:noFill/>
        </p:spPr>
        <p:txBody>
          <a:bodyPr wrap="square">
            <a:spAutoFit/>
          </a:bodyPr>
          <a:lstStyle/>
          <a:p>
            <a:r>
              <a:rPr sz="1100" b="1" i="0">
                <a:solidFill>
                  <a:srgbClr val="34D399"/>
                </a:solidFill>
                <a:latin typeface="Outfit"/>
              </a:rPr>
              <a:t>💧 Water Balance &amp; CWSI</a:t>
            </a:r>
          </a:p>
          <a:p>
            <a:pPr>
              <a:spcBef>
                <a:spcPts val="200"/>
              </a:spcBef>
            </a:pPr>
            <a:r>
              <a:rPr sz="900" b="0" i="0">
                <a:solidFill>
                  <a:srgbClr val="94A3B8"/>
                </a:solidFill>
                <a:latin typeface="Plus Jakarta Sans"/>
              </a:rPr>
              <a:t>Live root-zone depletion bar, stress index, ET₀, and adjusted crop water demand.</a:t>
            </a:r>
          </a:p>
        </p:txBody>
      </p:sp>
      <p:sp>
        <p:nvSpPr>
          <p:cNvPr id="9" name="Rounded Rectangle 8"/>
          <p:cNvSpPr/>
          <p:nvPr/>
        </p:nvSpPr>
        <p:spPr>
          <a:xfrm>
            <a:off x="7132320" y="3474720"/>
            <a:ext cx="4572000" cy="804672"/>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3547872"/>
            <a:ext cx="4297680" cy="685800"/>
          </a:xfrm>
          <a:prstGeom prst="rect">
            <a:avLst/>
          </a:prstGeom>
          <a:noFill/>
        </p:spPr>
        <p:txBody>
          <a:bodyPr wrap="square">
            <a:spAutoFit/>
          </a:bodyPr>
          <a:lstStyle/>
          <a:p>
            <a:r>
              <a:rPr sz="1100" b="1" i="0">
                <a:solidFill>
                  <a:srgbClr val="F59E0B"/>
                </a:solidFill>
                <a:latin typeface="Outfit"/>
              </a:rPr>
              <a:t>☀️ Solar Energy &amp; Pump</a:t>
            </a:r>
          </a:p>
          <a:p>
            <a:pPr>
              <a:spcBef>
                <a:spcPts val="200"/>
              </a:spcBef>
            </a:pPr>
            <a:r>
              <a:rPr sz="900" b="0" i="0">
                <a:solidFill>
                  <a:srgbClr val="94A3B8"/>
                </a:solidFill>
                <a:latin typeface="Plus Jakarta Sans"/>
              </a:rPr>
              <a:t>PV generation, pump status (ACTIVE_SOLAR / STANDBY), tariff savings.</a:t>
            </a:r>
          </a:p>
        </p:txBody>
      </p:sp>
      <p:sp>
        <p:nvSpPr>
          <p:cNvPr id="11" name="Rounded Rectangle 10"/>
          <p:cNvSpPr/>
          <p:nvPr/>
        </p:nvSpPr>
        <p:spPr>
          <a:xfrm>
            <a:off x="7132320" y="4389120"/>
            <a:ext cx="4572000" cy="804672"/>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4462272"/>
            <a:ext cx="4297680" cy="685800"/>
          </a:xfrm>
          <a:prstGeom prst="rect">
            <a:avLst/>
          </a:prstGeom>
          <a:noFill/>
        </p:spPr>
        <p:txBody>
          <a:bodyPr wrap="square">
            <a:spAutoFit/>
          </a:bodyPr>
          <a:lstStyle/>
          <a:p>
            <a:r>
              <a:rPr sz="1100" b="1" i="0">
                <a:solidFill>
                  <a:srgbClr val="38BDF8"/>
                </a:solidFill>
                <a:latin typeface="Outfit"/>
              </a:rPr>
              <a:t>⚡ Live Simulation</a:t>
            </a:r>
          </a:p>
          <a:p>
            <a:pPr>
              <a:spcBef>
                <a:spcPts val="200"/>
              </a:spcBef>
            </a:pPr>
            <a:r>
              <a:rPr sz="900" b="0" i="0">
                <a:solidFill>
                  <a:srgbClr val="94A3B8"/>
                </a:solidFill>
                <a:latin typeface="Plus Jakarta Sans"/>
              </a:rPr>
              <a:t>Interactive telemetry: Peak Sun, Rainfall, Heatwave—demonstrating dynamic response.</a:t>
            </a:r>
          </a:p>
        </p:txBody>
      </p:sp>
      <p:sp>
        <p:nvSpPr>
          <p:cNvPr id="13" name="Rounded Rectangle 12"/>
          <p:cNvSpPr/>
          <p:nvPr/>
        </p:nvSpPr>
        <p:spPr>
          <a:xfrm>
            <a:off x="7132320" y="5303520"/>
            <a:ext cx="4572000" cy="804672"/>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5376672"/>
            <a:ext cx="4297680" cy="685800"/>
          </a:xfrm>
          <a:prstGeom prst="rect">
            <a:avLst/>
          </a:prstGeom>
          <a:noFill/>
        </p:spPr>
        <p:txBody>
          <a:bodyPr wrap="square">
            <a:spAutoFit/>
          </a:bodyPr>
          <a:lstStyle/>
          <a:p>
            <a:r>
              <a:rPr sz="1100" b="1" i="0">
                <a:solidFill>
                  <a:srgbClr val="34D399"/>
                </a:solidFill>
                <a:latin typeface="Outfit"/>
              </a:rPr>
              <a:t>🛰️ Satellite Scanner</a:t>
            </a:r>
          </a:p>
          <a:p>
            <a:pPr>
              <a:spcBef>
                <a:spcPts val="200"/>
              </a:spcBef>
            </a:pPr>
            <a:r>
              <a:rPr sz="900" b="0" i="0">
                <a:solidFill>
                  <a:srgbClr val="94A3B8"/>
                </a:solidFill>
                <a:latin typeface="Plus Jakarta Sans"/>
              </a:rPr>
              <a:t>4-band spectral switcher (NDVI, CWSI, NDRE, True Color) with zone hotspots.</a:t>
            </a:r>
          </a:p>
        </p:txBody>
      </p:sp>
      <p:sp>
        <p:nvSpPr>
          <p:cNvPr id="15" name="TextBox 14"/>
          <p:cNvSpPr txBox="1"/>
          <p:nvPr/>
        </p:nvSpPr>
        <p:spPr>
          <a:xfrm>
            <a:off x="731520" y="6263640"/>
            <a:ext cx="4572000" cy="320040"/>
          </a:xfrm>
          <a:prstGeom prst="rect">
            <a:avLst/>
          </a:prstGeom>
          <a:noFill/>
        </p:spPr>
        <p:txBody>
          <a:bodyPr wrap="square">
            <a:spAutoFit/>
          </a:bodyPr>
          <a:lstStyle/>
          <a:p>
            <a:pPr algn="l"/>
            <a:r>
              <a:rPr sz="900" b="0" i="0">
                <a:solidFill>
                  <a:srgbClr val="10B981"/>
                </a:solidFill>
                <a:latin typeface="JetBrains Mono"/>
              </a:rPr>
              <a:t>Live: kisanurja.vercel.app</a:t>
            </a:r>
          </a:p>
        </p:txBody>
      </p:sp>
      <p:sp>
        <p:nvSpPr>
          <p:cNvPr id="16" name="TextBox 15"/>
          <p:cNvSpPr txBox="1"/>
          <p:nvPr/>
        </p:nvSpPr>
        <p:spPr>
          <a:xfrm>
            <a:off x="6400800" y="6263640"/>
            <a:ext cx="5029200" cy="320040"/>
          </a:xfrm>
          <a:prstGeom prst="rect">
            <a:avLst/>
          </a:prstGeom>
          <a:noFill/>
        </p:spPr>
        <p:txBody>
          <a:bodyPr wrap="square">
            <a:spAutoFit/>
          </a:bodyPr>
          <a:lstStyle/>
          <a:p>
            <a:pPr algn="r"/>
            <a:r>
              <a:rPr sz="900" b="0" i="0">
                <a:solidFill>
                  <a:srgbClr val="64748B"/>
                </a:solidFill>
                <a:latin typeface="Plus Jakarta Sans"/>
              </a:rPr>
              <a:t>React 19 + Vite 8 · Obsidian Slate Theme · Lenis Smooth Scroll</a:t>
            </a:r>
          </a:p>
        </p:txBody>
      </p:sp>
      <p:sp>
        <p:nvSpPr>
          <p:cNvPr id="17" name="TextBox 16"/>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ACCESSIBILITY &amp; TRUST</a:t>
            </a:r>
          </a:p>
        </p:txBody>
      </p:sp>
      <p:sp>
        <p:nvSpPr>
          <p:cNvPr id="3" name="TextBox 2"/>
          <p:cNvSpPr txBox="1"/>
          <p:nvPr/>
        </p:nvSpPr>
        <p:spPr>
          <a:xfrm>
            <a:off x="731520" y="822960"/>
            <a:ext cx="10058400" cy="640080"/>
          </a:xfrm>
          <a:prstGeom prst="rect">
            <a:avLst/>
          </a:prstGeom>
          <a:noFill/>
        </p:spPr>
        <p:txBody>
          <a:bodyPr wrap="square">
            <a:spAutoFit/>
          </a:bodyPr>
          <a:lstStyle/>
          <a:p>
            <a:r>
              <a:rPr sz="2800" b="1" i="0">
                <a:solidFill>
                  <a:srgbClr val="F1F5F9"/>
                </a:solidFill>
                <a:latin typeface="Outfit"/>
              </a:rPr>
              <a:t>Advanced intelligence, </a:t>
            </a:r>
            <a:r>
              <a:rPr sz="2800" b="1" i="0">
                <a:solidFill>
                  <a:srgbClr val="34D399"/>
                </a:solidFill>
                <a:latin typeface="Outfit"/>
              </a:rPr>
              <a:t>without hiding the reasoning</a:t>
            </a:r>
            <a:r>
              <a:rPr sz="2800" b="1" i="0">
                <a:solidFill>
                  <a:srgbClr val="F1F5F9"/>
                </a:solidFill>
                <a:latin typeface="Outfit"/>
              </a:rPr>
              <a:t>.</a:t>
            </a:r>
          </a:p>
        </p:txBody>
      </p:sp>
      <p:sp>
        <p:nvSpPr>
          <p:cNvPr id="4" name="TextBox 3"/>
          <p:cNvSpPr txBox="1"/>
          <p:nvPr/>
        </p:nvSpPr>
        <p:spPr>
          <a:xfrm>
            <a:off x="731520" y="1645920"/>
            <a:ext cx="5303520" cy="320040"/>
          </a:xfrm>
          <a:prstGeom prst="rect">
            <a:avLst/>
          </a:prstGeom>
          <a:noFill/>
        </p:spPr>
        <p:txBody>
          <a:bodyPr wrap="square">
            <a:spAutoFit/>
          </a:bodyPr>
          <a:lstStyle/>
          <a:p>
            <a:pPr algn="l"/>
            <a:r>
              <a:rPr sz="1200" b="1" i="0">
                <a:solidFill>
                  <a:srgbClr val="34D399"/>
                </a:solidFill>
                <a:latin typeface="Outfit"/>
              </a:rPr>
              <a:t>🇮🇳  FARMER ACCESSIBILITY</a:t>
            </a:r>
          </a:p>
        </p:txBody>
      </p:sp>
      <p:sp>
        <p:nvSpPr>
          <p:cNvPr id="5" name="TextBox 4"/>
          <p:cNvSpPr txBox="1"/>
          <p:nvPr/>
        </p:nvSpPr>
        <p:spPr>
          <a:xfrm>
            <a:off x="731520" y="2011680"/>
            <a:ext cx="5303520" cy="3200400"/>
          </a:xfrm>
          <a:prstGeom prst="rect">
            <a:avLst/>
          </a:prstGeom>
          <a:noFill/>
        </p:spPr>
        <p:txBody>
          <a:bodyPr wrap="square">
            <a:spAutoFit/>
          </a:bodyPr>
          <a:lstStyle/>
          <a:p>
            <a:pPr>
              <a:spcBef>
                <a:spcPts val="600"/>
              </a:spcBef>
              <a:spcAft>
                <a:spcPts val="400"/>
              </a:spcAft>
            </a:pPr>
            <a:r>
              <a:rPr sz="800">
                <a:solidFill>
                  <a:srgbClr val="10B981"/>
                </a:solidFill>
                <a:latin typeface="Plus Jakarta Sans"/>
              </a:rPr>
              <a:t>● </a:t>
            </a:r>
            <a:r>
              <a:rPr sz="1200" b="1">
                <a:solidFill>
                  <a:srgbClr val="F1F5F9"/>
                </a:solidFill>
                <a:latin typeface="Plus Jakarta Sans"/>
              </a:rPr>
              <a:t>Hindi/Hinglish transliterator</a:t>
            </a:r>
            <a:r>
              <a:rPr sz="1200">
                <a:solidFill>
                  <a:srgbClr val="94A3B8"/>
                </a:solidFill>
                <a:latin typeface="Plus Jakarta Sans"/>
              </a:rPr>
              <a:t> — real-time Devanagari conversion with agricultural dictionary (khet → खेत, paani → पानी)</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Hindi voice synthesis</a:t>
            </a:r>
            <a:r>
              <a:rPr sz="1200">
                <a:solidFill>
                  <a:srgbClr val="94A3B8"/>
                </a:solidFill>
                <a:latin typeface="Plus Jakarta Sans"/>
              </a:rPr>
              <a:t> — Web Speech API reads recommendations aloud</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Sunlight high-contrast mode</a:t>
            </a:r>
            <a:r>
              <a:rPr sz="1200">
                <a:solidFill>
                  <a:srgbClr val="94A3B8"/>
                </a:solidFill>
                <a:latin typeface="Plus Jakarta Sans"/>
              </a:rPr>
              <a:t> — toggle for outdoor field visibility</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Font size scaling</a:t>
            </a:r>
            <a:r>
              <a:rPr sz="1200">
                <a:solidFill>
                  <a:srgbClr val="94A3B8"/>
                </a:solidFill>
                <a:latin typeface="Plus Jakarta Sans"/>
              </a:rPr>
              <a:t> — adjustable text size controls (+/−)</a:t>
            </a:r>
          </a:p>
          <a:p>
            <a:pPr>
              <a:spcBef>
                <a:spcPts val="600"/>
              </a:spcBef>
              <a:spcAft>
                <a:spcPts val="400"/>
              </a:spcAft>
            </a:pPr>
            <a:r>
              <a:rPr sz="800">
                <a:solidFill>
                  <a:srgbClr val="10B981"/>
                </a:solidFill>
                <a:latin typeface="Plus Jakarta Sans"/>
              </a:rPr>
              <a:t>● </a:t>
            </a:r>
            <a:r>
              <a:rPr sz="1200" b="1">
                <a:solidFill>
                  <a:srgbClr val="F1F5F9"/>
                </a:solidFill>
                <a:latin typeface="Plus Jakarta Sans"/>
              </a:rPr>
              <a:t>Farmer-first interface</a:t>
            </a:r>
            <a:r>
              <a:rPr sz="1200">
                <a:solidFill>
                  <a:srgbClr val="94A3B8"/>
                </a:solidFill>
                <a:latin typeface="Plus Jakarta Sans"/>
              </a:rPr>
              <a:t> — clear recommendation cards with urgency badges</a:t>
            </a:r>
          </a:p>
        </p:txBody>
      </p:sp>
      <p:sp>
        <p:nvSpPr>
          <p:cNvPr id="6" name="TextBox 5"/>
          <p:cNvSpPr txBox="1"/>
          <p:nvPr/>
        </p:nvSpPr>
        <p:spPr>
          <a:xfrm>
            <a:off x="6400800" y="1645920"/>
            <a:ext cx="5303520" cy="320040"/>
          </a:xfrm>
          <a:prstGeom prst="rect">
            <a:avLst/>
          </a:prstGeom>
          <a:noFill/>
        </p:spPr>
        <p:txBody>
          <a:bodyPr wrap="square">
            <a:spAutoFit/>
          </a:bodyPr>
          <a:lstStyle/>
          <a:p>
            <a:pPr algn="l"/>
            <a:r>
              <a:rPr sz="1200" b="1" i="0">
                <a:solidFill>
                  <a:srgbClr val="F59E0B"/>
                </a:solidFill>
                <a:latin typeface="Outfit"/>
              </a:rPr>
              <a:t>🔒  TRUST &amp; TRACEABILITY</a:t>
            </a:r>
          </a:p>
        </p:txBody>
      </p:sp>
      <p:sp>
        <p:nvSpPr>
          <p:cNvPr id="7" name="TextBox 6"/>
          <p:cNvSpPr txBox="1"/>
          <p:nvPr/>
        </p:nvSpPr>
        <p:spPr>
          <a:xfrm>
            <a:off x="6400800" y="2011680"/>
            <a:ext cx="5303520" cy="3200400"/>
          </a:xfrm>
          <a:prstGeom prst="rect">
            <a:avLst/>
          </a:prstGeom>
          <a:noFill/>
        </p:spPr>
        <p:txBody>
          <a:bodyPr wrap="square">
            <a:spAutoFit/>
          </a:bodyPr>
          <a:lstStyle/>
          <a:p>
            <a:pPr>
              <a:spcBef>
                <a:spcPts val="600"/>
              </a:spcBef>
              <a:spcAft>
                <a:spcPts val="400"/>
              </a:spcAft>
            </a:pPr>
            <a:r>
              <a:rPr sz="800">
                <a:solidFill>
                  <a:srgbClr val="F59E0B"/>
                </a:solidFill>
                <a:latin typeface="Plus Jakarta Sans"/>
              </a:rPr>
              <a:t>● </a:t>
            </a:r>
            <a:r>
              <a:rPr sz="1200" b="1">
                <a:solidFill>
                  <a:srgbClr val="F1F5F9"/>
                </a:solidFill>
                <a:latin typeface="Plus Jakarta Sans"/>
              </a:rPr>
              <a:t>Data provenance</a:t>
            </a:r>
            <a:r>
              <a:rPr sz="1200">
                <a:solidFill>
                  <a:srgbClr val="94A3B8"/>
                </a:solidFill>
                <a:latin typeface="Plus Jakarta Sans"/>
              </a:rPr>
              <a:t> — every record tagged EXTERNAL_RETRIEVED, OBSERVED, or CALCULATED</a:t>
            </a:r>
          </a:p>
          <a:p>
            <a:pPr>
              <a:spcBef>
                <a:spcPts val="600"/>
              </a:spcBef>
              <a:spcAft>
                <a:spcPts val="400"/>
              </a:spcAft>
            </a:pPr>
            <a:r>
              <a:rPr sz="800">
                <a:solidFill>
                  <a:srgbClr val="F59E0B"/>
                </a:solidFill>
                <a:latin typeface="Plus Jakarta Sans"/>
              </a:rPr>
              <a:t>● </a:t>
            </a:r>
            <a:r>
              <a:rPr sz="1200" b="1">
                <a:solidFill>
                  <a:srgbClr val="F1F5F9"/>
                </a:solidFill>
                <a:latin typeface="Plus Jakarta Sans"/>
              </a:rPr>
              <a:t>SHA-256 raw archiving</a:t>
            </a:r>
            <a:r>
              <a:rPr sz="1200">
                <a:solidFill>
                  <a:srgbClr val="94A3B8"/>
                </a:solidFill>
                <a:latin typeface="Plus Jakarta Sans"/>
              </a:rPr>
              <a:t> — all external API payloads cryptographically hashed before parsing</a:t>
            </a:r>
          </a:p>
          <a:p>
            <a:pPr>
              <a:spcBef>
                <a:spcPts val="600"/>
              </a:spcBef>
              <a:spcAft>
                <a:spcPts val="400"/>
              </a:spcAft>
            </a:pPr>
            <a:r>
              <a:rPr sz="800">
                <a:solidFill>
                  <a:srgbClr val="F59E0B"/>
                </a:solidFill>
                <a:latin typeface="Plus Jakarta Sans"/>
              </a:rPr>
              <a:t>● </a:t>
            </a:r>
            <a:r>
              <a:rPr sz="1200" b="1">
                <a:solidFill>
                  <a:srgbClr val="F1F5F9"/>
                </a:solidFill>
                <a:latin typeface="Plus Jakarta Sans"/>
              </a:rPr>
              <a:t>PostgreSQL Row-Level Security</a:t>
            </a:r>
            <a:r>
              <a:rPr sz="1200">
                <a:solidFill>
                  <a:srgbClr val="94A3B8"/>
                </a:solidFill>
                <a:latin typeface="Plus Jakarta Sans"/>
              </a:rPr>
              <a:t> — tenant isolation via JWT claim enforcement</a:t>
            </a:r>
          </a:p>
          <a:p>
            <a:pPr>
              <a:spcBef>
                <a:spcPts val="600"/>
              </a:spcBef>
              <a:spcAft>
                <a:spcPts val="400"/>
              </a:spcAft>
            </a:pPr>
            <a:r>
              <a:rPr sz="800">
                <a:solidFill>
                  <a:srgbClr val="F59E0B"/>
                </a:solidFill>
                <a:latin typeface="Plus Jakarta Sans"/>
              </a:rPr>
              <a:t>● </a:t>
            </a:r>
            <a:r>
              <a:rPr sz="1200" b="1">
                <a:solidFill>
                  <a:srgbClr val="F1F5F9"/>
                </a:solidFill>
                <a:latin typeface="Plus Jakarta Sans"/>
              </a:rPr>
              <a:t>Full traceability chains</a:t>
            </a:r>
            <a:r>
              <a:rPr sz="1200">
                <a:solidFill>
                  <a:srgbClr val="94A3B8"/>
                </a:solidFill>
                <a:latin typeface="Plus Jakarta Sans"/>
              </a:rPr>
              <a:t> — each recommendation includes inputs, equations, assumptions, confidence, limitations</a:t>
            </a:r>
          </a:p>
          <a:p>
            <a:pPr>
              <a:spcBef>
                <a:spcPts val="600"/>
              </a:spcBef>
              <a:spcAft>
                <a:spcPts val="400"/>
              </a:spcAft>
            </a:pPr>
            <a:r>
              <a:rPr sz="800">
                <a:solidFill>
                  <a:srgbClr val="F59E0B"/>
                </a:solidFill>
                <a:latin typeface="Plus Jakarta Sans"/>
              </a:rPr>
              <a:t>● </a:t>
            </a:r>
            <a:r>
              <a:rPr sz="1200" b="1">
                <a:solidFill>
                  <a:srgbClr val="F1F5F9"/>
                </a:solidFill>
                <a:latin typeface="Plus Jakarta Sans"/>
              </a:rPr>
              <a:t>Zero fabricated telemetry</a:t>
            </a:r>
            <a:r>
              <a:rPr sz="1200">
                <a:solidFill>
                  <a:srgbClr val="94A3B8"/>
                </a:solidFill>
                <a:latin typeface="Plus Jakarta Sans"/>
              </a:rPr>
              <a:t> — no synthetic data presented as observed measurements</a:t>
            </a:r>
          </a:p>
        </p:txBody>
      </p:sp>
      <p:sp>
        <p:nvSpPr>
          <p:cNvPr id="8" name="TextBox 7"/>
          <p:cNvSpPr txBox="1"/>
          <p:nvPr/>
        </p:nvSpPr>
        <p:spPr>
          <a:xfrm>
            <a:off x="1371600" y="5486400"/>
            <a:ext cx="9144000" cy="548640"/>
          </a:xfrm>
          <a:prstGeom prst="rect">
            <a:avLst/>
          </a:prstGeom>
          <a:noFill/>
        </p:spPr>
        <p:txBody>
          <a:bodyPr wrap="square">
            <a:spAutoFit/>
          </a:bodyPr>
          <a:lstStyle/>
          <a:p>
            <a:pPr algn="ctr"/>
            <a:r>
              <a:rPr sz="1400" b="0" i="1">
                <a:solidFill>
                  <a:srgbClr val="94A3B8"/>
                </a:solidFill>
                <a:latin typeface="Plus Jakarta Sans"/>
              </a:rPr>
              <a:t>"Farmers should understand not only </a:t>
            </a:r>
            <a:r>
              <a:rPr sz="1400" b="1" i="1">
                <a:solidFill>
                  <a:srgbClr val="F1F5F9"/>
                </a:solidFill>
                <a:latin typeface="Plus Jakarta Sans"/>
              </a:rPr>
              <a:t>what</a:t>
            </a:r>
            <a:r>
              <a:rPr sz="1400" b="0" i="1">
                <a:solidFill>
                  <a:srgbClr val="94A3B8"/>
                </a:solidFill>
                <a:latin typeface="Plus Jakarta Sans"/>
              </a:rPr>
              <a:t> the system recommends, but </a:t>
            </a:r>
            <a:r>
              <a:rPr sz="1400" b="1" i="1">
                <a:solidFill>
                  <a:srgbClr val="34D399"/>
                </a:solidFill>
                <a:latin typeface="Plus Jakarta Sans"/>
              </a:rPr>
              <a:t>why</a:t>
            </a:r>
            <a:r>
              <a:rPr sz="1400" b="0" i="1">
                <a:solidFill>
                  <a:srgbClr val="94A3B8"/>
                </a:solidFill>
                <a:latin typeface="Plus Jakarta Sans"/>
              </a:rPr>
              <a:t>."</a:t>
            </a:r>
          </a:p>
        </p:txBody>
      </p:sp>
      <p:sp>
        <p:nvSpPr>
          <p:cNvPr id="9" name="TextBox 8"/>
          <p:cNvSpPr txBox="1"/>
          <p:nvPr/>
        </p:nvSpPr>
        <p:spPr>
          <a:xfrm>
            <a:off x="731520" y="6309360"/>
            <a:ext cx="4572000" cy="365760"/>
          </a:xfrm>
          <a:prstGeom prst="rect">
            <a:avLst/>
          </a:prstGeom>
          <a:noFill/>
        </p:spPr>
        <p:txBody>
          <a:bodyPr wrap="square">
            <a:spAutoFit/>
          </a:bodyPr>
          <a:lstStyle/>
          <a:p>
            <a:pPr algn="l"/>
            <a:r>
              <a:rPr sz="900" b="0" i="0">
                <a:solidFill>
                  <a:srgbClr val="64748B"/>
                </a:solidFill>
                <a:latin typeface="Plus Jakarta Sans"/>
              </a:rPr>
              <a:t>KISAN URJA — Yuva Yodha 2026</a:t>
            </a:r>
          </a:p>
        </p:txBody>
      </p:sp>
      <p:sp>
        <p:nvSpPr>
          <p:cNvPr id="10" name="TextBox 9"/>
          <p:cNvSpPr txBox="1"/>
          <p:nvPr/>
        </p:nvSpPr>
        <p:spPr>
          <a:xfrm>
            <a:off x="7315200" y="6309360"/>
            <a:ext cx="4114800" cy="365760"/>
          </a:xfrm>
          <a:prstGeom prst="rect">
            <a:avLst/>
          </a:prstGeom>
          <a:noFill/>
        </p:spPr>
        <p:txBody>
          <a:bodyPr wrap="square">
            <a:spAutoFit/>
          </a:bodyPr>
          <a:lstStyle/>
          <a:p>
            <a:pPr algn="r"/>
            <a:r>
              <a:rPr sz="900" b="0" i="0">
                <a:solidFill>
                  <a:srgbClr val="10B981"/>
                </a:solidFill>
                <a:latin typeface="JetBrains Mono"/>
              </a:rPr>
              <a:t>kisanurja.vercel.app</a:t>
            </a:r>
          </a:p>
        </p:txBody>
      </p:sp>
      <p:sp>
        <p:nvSpPr>
          <p:cNvPr id="11" name="TextBox 10"/>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IMPLEMENTATION</a:t>
            </a:r>
          </a:p>
        </p:txBody>
      </p:sp>
      <p:sp>
        <p:nvSpPr>
          <p:cNvPr id="3" name="TextBox 2"/>
          <p:cNvSpPr txBox="1"/>
          <p:nvPr/>
        </p:nvSpPr>
        <p:spPr>
          <a:xfrm>
            <a:off x="731520" y="822960"/>
            <a:ext cx="10058400" cy="640080"/>
          </a:xfrm>
          <a:prstGeom prst="rect">
            <a:avLst/>
          </a:prstGeom>
          <a:noFill/>
        </p:spPr>
        <p:txBody>
          <a:bodyPr wrap="square">
            <a:spAutoFit/>
          </a:bodyPr>
          <a:lstStyle/>
          <a:p>
            <a:r>
              <a:rPr sz="2800" b="1" i="0">
                <a:solidFill>
                  <a:srgbClr val="F1F5F9"/>
                </a:solidFill>
                <a:latin typeface="Outfit"/>
              </a:rPr>
              <a:t>From concept to </a:t>
            </a:r>
            <a:r>
              <a:rPr sz="2800" b="1" i="0">
                <a:solidFill>
                  <a:srgbClr val="34D399"/>
                </a:solidFill>
                <a:latin typeface="Outfit"/>
              </a:rPr>
              <a:t>working full-stack system</a:t>
            </a:r>
            <a:r>
              <a:rPr sz="2800" b="1" i="0">
                <a:solidFill>
                  <a:srgbClr val="F1F5F9"/>
                </a:solidFill>
                <a:latin typeface="Outfit"/>
              </a:rPr>
              <a:t>.</a:t>
            </a:r>
          </a:p>
        </p:txBody>
      </p:sp>
      <p:sp>
        <p:nvSpPr>
          <p:cNvPr id="4" name="TextBox 3"/>
          <p:cNvSpPr txBox="1"/>
          <p:nvPr/>
        </p:nvSpPr>
        <p:spPr>
          <a:xfrm>
            <a:off x="731520" y="1645920"/>
            <a:ext cx="4572000" cy="320040"/>
          </a:xfrm>
          <a:prstGeom prst="rect">
            <a:avLst/>
          </a:prstGeom>
          <a:noFill/>
        </p:spPr>
        <p:txBody>
          <a:bodyPr wrap="square">
            <a:spAutoFit/>
          </a:bodyPr>
          <a:lstStyle/>
          <a:p>
            <a:pPr algn="l"/>
            <a:r>
              <a:rPr sz="1100" b="1" i="0">
                <a:solidFill>
                  <a:srgbClr val="64748B"/>
                </a:solidFill>
                <a:latin typeface="Outfit"/>
              </a:rPr>
              <a:t>SYSTEM ARCHITECTURE</a:t>
            </a:r>
          </a:p>
        </p:txBody>
      </p:sp>
      <p:sp>
        <p:nvSpPr>
          <p:cNvPr id="5" name="Rounded Rectangle 4"/>
          <p:cNvSpPr/>
          <p:nvPr/>
        </p:nvSpPr>
        <p:spPr>
          <a:xfrm>
            <a:off x="1097280" y="2103120"/>
            <a:ext cx="4389120" cy="502920"/>
          </a:xfrm>
          <a:prstGeom prst="roundRect">
            <a:avLst/>
          </a:prstGeom>
          <a:solidFill>
            <a:srgbClr val="0C2030"/>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2176272"/>
            <a:ext cx="4023360" cy="365760"/>
          </a:xfrm>
          <a:prstGeom prst="rect">
            <a:avLst/>
          </a:prstGeom>
          <a:noFill/>
        </p:spPr>
        <p:txBody>
          <a:bodyPr wrap="square">
            <a:spAutoFit/>
          </a:bodyPr>
          <a:lstStyle/>
          <a:p>
            <a:pPr algn="ctr"/>
            <a:r>
              <a:rPr sz="1200" b="1" i="0">
                <a:solidFill>
                  <a:srgbClr val="38BDF8"/>
                </a:solidFill>
                <a:latin typeface="Outfit"/>
              </a:rPr>
              <a:t>🖥️  React 19 + Vite 8 + Lenis</a:t>
            </a:r>
          </a:p>
        </p:txBody>
      </p:sp>
      <p:sp>
        <p:nvSpPr>
          <p:cNvPr id="7" name="TextBox 6"/>
          <p:cNvSpPr txBox="1"/>
          <p:nvPr/>
        </p:nvSpPr>
        <p:spPr>
          <a:xfrm>
            <a:off x="3017520" y="2606040"/>
            <a:ext cx="548640" cy="228600"/>
          </a:xfrm>
          <a:prstGeom prst="rect">
            <a:avLst/>
          </a:prstGeom>
          <a:noFill/>
        </p:spPr>
        <p:txBody>
          <a:bodyPr wrap="square">
            <a:spAutoFit/>
          </a:bodyPr>
          <a:lstStyle/>
          <a:p>
            <a:pPr algn="ctr"/>
            <a:r>
              <a:rPr sz="1200" b="0" i="0">
                <a:solidFill>
                  <a:srgbClr val="64748B"/>
                </a:solidFill>
                <a:latin typeface="Outfit"/>
              </a:rPr>
              <a:t>↕</a:t>
            </a:r>
          </a:p>
        </p:txBody>
      </p:sp>
      <p:sp>
        <p:nvSpPr>
          <p:cNvPr id="8" name="Rounded Rectangle 7"/>
          <p:cNvSpPr/>
          <p:nvPr/>
        </p:nvSpPr>
        <p:spPr>
          <a:xfrm>
            <a:off x="1097280" y="2852928"/>
            <a:ext cx="4389120" cy="502920"/>
          </a:xfrm>
          <a:prstGeom prst="roundRect">
            <a:avLst/>
          </a:prstGeom>
          <a:solidFill>
            <a:srgbClr val="0D2B1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80160" y="2926080"/>
            <a:ext cx="4023360" cy="365760"/>
          </a:xfrm>
          <a:prstGeom prst="rect">
            <a:avLst/>
          </a:prstGeom>
          <a:noFill/>
        </p:spPr>
        <p:txBody>
          <a:bodyPr wrap="square">
            <a:spAutoFit/>
          </a:bodyPr>
          <a:lstStyle/>
          <a:p>
            <a:pPr algn="ctr"/>
            <a:r>
              <a:rPr sz="1200" b="1" i="0">
                <a:solidFill>
                  <a:srgbClr val="10B981"/>
                </a:solidFill>
                <a:latin typeface="Outfit"/>
              </a:rPr>
              <a:t>⚡  FastAPI 0.115+ (10 Domain Routers)</a:t>
            </a:r>
          </a:p>
        </p:txBody>
      </p:sp>
      <p:sp>
        <p:nvSpPr>
          <p:cNvPr id="10" name="TextBox 9"/>
          <p:cNvSpPr txBox="1"/>
          <p:nvPr/>
        </p:nvSpPr>
        <p:spPr>
          <a:xfrm>
            <a:off x="3017520" y="3355848"/>
            <a:ext cx="548640" cy="228600"/>
          </a:xfrm>
          <a:prstGeom prst="rect">
            <a:avLst/>
          </a:prstGeom>
          <a:noFill/>
        </p:spPr>
        <p:txBody>
          <a:bodyPr wrap="square">
            <a:spAutoFit/>
          </a:bodyPr>
          <a:lstStyle/>
          <a:p>
            <a:pPr algn="ctr"/>
            <a:r>
              <a:rPr sz="1200" b="0" i="0">
                <a:solidFill>
                  <a:srgbClr val="64748B"/>
                </a:solidFill>
                <a:latin typeface="Outfit"/>
              </a:rPr>
              <a:t>↕</a:t>
            </a:r>
          </a:p>
        </p:txBody>
      </p:sp>
      <p:sp>
        <p:nvSpPr>
          <p:cNvPr id="11" name="Rounded Rectangle 10"/>
          <p:cNvSpPr/>
          <p:nvPr/>
        </p:nvSpPr>
        <p:spPr>
          <a:xfrm>
            <a:off x="1097280" y="3602736"/>
            <a:ext cx="4389120" cy="502920"/>
          </a:xfrm>
          <a:prstGeom prst="roundRect">
            <a:avLst/>
          </a:prstGeom>
          <a:solidFill>
            <a:srgbClr val="1A1A0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3675888"/>
            <a:ext cx="4023360" cy="365760"/>
          </a:xfrm>
          <a:prstGeom prst="rect">
            <a:avLst/>
          </a:prstGeom>
          <a:noFill/>
        </p:spPr>
        <p:txBody>
          <a:bodyPr wrap="square">
            <a:spAutoFit/>
          </a:bodyPr>
          <a:lstStyle/>
          <a:p>
            <a:pPr algn="ctr"/>
            <a:r>
              <a:rPr sz="1200" b="1" i="0">
                <a:solidFill>
                  <a:srgbClr val="F59E0B"/>
                </a:solidFill>
                <a:latin typeface="Outfit"/>
              </a:rPr>
              <a:t>🧠  Agricultural Intelligence Engine</a:t>
            </a:r>
          </a:p>
        </p:txBody>
      </p:sp>
      <p:sp>
        <p:nvSpPr>
          <p:cNvPr id="13" name="TextBox 12"/>
          <p:cNvSpPr txBox="1"/>
          <p:nvPr/>
        </p:nvSpPr>
        <p:spPr>
          <a:xfrm>
            <a:off x="3017520" y="4105656"/>
            <a:ext cx="548640" cy="228600"/>
          </a:xfrm>
          <a:prstGeom prst="rect">
            <a:avLst/>
          </a:prstGeom>
          <a:noFill/>
        </p:spPr>
        <p:txBody>
          <a:bodyPr wrap="square">
            <a:spAutoFit/>
          </a:bodyPr>
          <a:lstStyle/>
          <a:p>
            <a:pPr algn="ctr"/>
            <a:r>
              <a:rPr sz="1200" b="0" i="0">
                <a:solidFill>
                  <a:srgbClr val="64748B"/>
                </a:solidFill>
                <a:latin typeface="Outfit"/>
              </a:rPr>
              <a:t>↕</a:t>
            </a:r>
          </a:p>
        </p:txBody>
      </p:sp>
      <p:sp>
        <p:nvSpPr>
          <p:cNvPr id="14" name="Rounded Rectangle 13"/>
          <p:cNvSpPr/>
          <p:nvPr/>
        </p:nvSpPr>
        <p:spPr>
          <a:xfrm>
            <a:off x="1097280" y="4352544"/>
            <a:ext cx="4389120" cy="502920"/>
          </a:xfrm>
          <a:prstGeom prst="roundRect">
            <a:avLst/>
          </a:prstGeom>
          <a:solidFill>
            <a:srgbClr val="1E293B"/>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80160" y="4425696"/>
            <a:ext cx="4023360" cy="365760"/>
          </a:xfrm>
          <a:prstGeom prst="rect">
            <a:avLst/>
          </a:prstGeom>
          <a:noFill/>
        </p:spPr>
        <p:txBody>
          <a:bodyPr wrap="square">
            <a:spAutoFit/>
          </a:bodyPr>
          <a:lstStyle/>
          <a:p>
            <a:pPr algn="ctr"/>
            <a:r>
              <a:rPr sz="1200" b="1" i="0">
                <a:solidFill>
                  <a:srgbClr val="94A3B8"/>
                </a:solidFill>
                <a:latin typeface="Outfit"/>
              </a:rPr>
              <a:t>🗄️  PostgreSQL 18 + PostGIS 3.6</a:t>
            </a:r>
          </a:p>
        </p:txBody>
      </p:sp>
      <p:sp>
        <p:nvSpPr>
          <p:cNvPr id="16" name="TextBox 15"/>
          <p:cNvSpPr txBox="1"/>
          <p:nvPr/>
        </p:nvSpPr>
        <p:spPr>
          <a:xfrm>
            <a:off x="3017520" y="4855464"/>
            <a:ext cx="548640" cy="228600"/>
          </a:xfrm>
          <a:prstGeom prst="rect">
            <a:avLst/>
          </a:prstGeom>
          <a:noFill/>
        </p:spPr>
        <p:txBody>
          <a:bodyPr wrap="square">
            <a:spAutoFit/>
          </a:bodyPr>
          <a:lstStyle/>
          <a:p>
            <a:pPr algn="ctr"/>
            <a:r>
              <a:rPr sz="1200" b="0" i="0">
                <a:solidFill>
                  <a:srgbClr val="64748B"/>
                </a:solidFill>
                <a:latin typeface="Outfit"/>
              </a:rPr>
              <a:t>↕</a:t>
            </a:r>
          </a:p>
        </p:txBody>
      </p:sp>
      <p:sp>
        <p:nvSpPr>
          <p:cNvPr id="17" name="Rounded Rectangle 16"/>
          <p:cNvSpPr/>
          <p:nvPr/>
        </p:nvSpPr>
        <p:spPr>
          <a:xfrm>
            <a:off x="1097280" y="5102352"/>
            <a:ext cx="4389120" cy="502920"/>
          </a:xfrm>
          <a:prstGeom prst="roundRect">
            <a:avLst/>
          </a:prstGeom>
          <a:solidFill>
            <a:srgbClr val="1E293B"/>
          </a:solidFill>
          <a:ln w="1270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5175504"/>
            <a:ext cx="4023360" cy="365760"/>
          </a:xfrm>
          <a:prstGeom prst="rect">
            <a:avLst/>
          </a:prstGeom>
          <a:noFill/>
        </p:spPr>
        <p:txBody>
          <a:bodyPr wrap="square">
            <a:spAutoFit/>
          </a:bodyPr>
          <a:lstStyle/>
          <a:p>
            <a:pPr algn="ctr"/>
            <a:r>
              <a:rPr sz="1200" b="1" i="0">
                <a:solidFill>
                  <a:srgbClr val="64748B"/>
                </a:solidFill>
                <a:latin typeface="Outfit"/>
              </a:rPr>
              <a:t>📡  Open-Meteo · SoilGrids · Sentinel-2</a:t>
            </a:r>
          </a:p>
        </p:txBody>
      </p:sp>
      <p:sp>
        <p:nvSpPr>
          <p:cNvPr id="19" name="TextBox 18"/>
          <p:cNvSpPr txBox="1"/>
          <p:nvPr/>
        </p:nvSpPr>
        <p:spPr>
          <a:xfrm>
            <a:off x="6400800" y="1645920"/>
            <a:ext cx="5029200" cy="320040"/>
          </a:xfrm>
          <a:prstGeom prst="rect">
            <a:avLst/>
          </a:prstGeom>
          <a:noFill/>
        </p:spPr>
        <p:txBody>
          <a:bodyPr wrap="square">
            <a:spAutoFit/>
          </a:bodyPr>
          <a:lstStyle/>
          <a:p>
            <a:pPr algn="l"/>
            <a:r>
              <a:rPr sz="1100" b="1" i="0">
                <a:solidFill>
                  <a:srgbClr val="64748B"/>
                </a:solidFill>
                <a:latin typeface="Outfit"/>
              </a:rPr>
              <a:t>VERIFIED IMPLEMENTATION</a:t>
            </a:r>
          </a:p>
        </p:txBody>
      </p:sp>
      <p:sp>
        <p:nvSpPr>
          <p:cNvPr id="20" name="Rounded Rectangle 19"/>
          <p:cNvSpPr/>
          <p:nvPr/>
        </p:nvSpPr>
        <p:spPr>
          <a:xfrm>
            <a:off x="6400800" y="2103120"/>
            <a:ext cx="2286000" cy="10972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240280"/>
            <a:ext cx="2286000" cy="548640"/>
          </a:xfrm>
          <a:prstGeom prst="rect">
            <a:avLst/>
          </a:prstGeom>
          <a:noFill/>
        </p:spPr>
        <p:txBody>
          <a:bodyPr wrap="square">
            <a:spAutoFit/>
          </a:bodyPr>
          <a:lstStyle/>
          <a:p>
            <a:pPr algn="ctr"/>
            <a:r>
              <a:rPr sz="2800" b="1" i="0">
                <a:solidFill>
                  <a:srgbClr val="34D399"/>
                </a:solidFill>
                <a:latin typeface="Outfit"/>
              </a:rPr>
              <a:t>77</a:t>
            </a:r>
          </a:p>
        </p:txBody>
      </p:sp>
      <p:sp>
        <p:nvSpPr>
          <p:cNvPr id="22" name="TextBox 21"/>
          <p:cNvSpPr txBox="1"/>
          <p:nvPr/>
        </p:nvSpPr>
        <p:spPr>
          <a:xfrm>
            <a:off x="6400800" y="2788920"/>
            <a:ext cx="2286000" cy="274320"/>
          </a:xfrm>
          <a:prstGeom prst="rect">
            <a:avLst/>
          </a:prstGeom>
          <a:noFill/>
        </p:spPr>
        <p:txBody>
          <a:bodyPr wrap="square">
            <a:spAutoFit/>
          </a:bodyPr>
          <a:lstStyle/>
          <a:p>
            <a:pPr algn="ctr"/>
            <a:r>
              <a:rPr sz="1000" b="0" i="0">
                <a:solidFill>
                  <a:srgbClr val="64748B"/>
                </a:solidFill>
                <a:latin typeface="Plus Jakarta Sans"/>
              </a:rPr>
              <a:t>Relational Entities</a:t>
            </a:r>
          </a:p>
        </p:txBody>
      </p:sp>
      <p:sp>
        <p:nvSpPr>
          <p:cNvPr id="23" name="Rounded Rectangle 22"/>
          <p:cNvSpPr/>
          <p:nvPr/>
        </p:nvSpPr>
        <p:spPr>
          <a:xfrm>
            <a:off x="8961120" y="2103120"/>
            <a:ext cx="2286000" cy="10972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61120" y="2240280"/>
            <a:ext cx="2286000" cy="548640"/>
          </a:xfrm>
          <a:prstGeom prst="rect">
            <a:avLst/>
          </a:prstGeom>
          <a:noFill/>
        </p:spPr>
        <p:txBody>
          <a:bodyPr wrap="square">
            <a:spAutoFit/>
          </a:bodyPr>
          <a:lstStyle/>
          <a:p>
            <a:pPr algn="ctr"/>
            <a:r>
              <a:rPr sz="2800" b="1" i="0">
                <a:solidFill>
                  <a:srgbClr val="F59E0B"/>
                </a:solidFill>
                <a:latin typeface="Outfit"/>
              </a:rPr>
              <a:t>25</a:t>
            </a:r>
          </a:p>
        </p:txBody>
      </p:sp>
      <p:sp>
        <p:nvSpPr>
          <p:cNvPr id="25" name="TextBox 24"/>
          <p:cNvSpPr txBox="1"/>
          <p:nvPr/>
        </p:nvSpPr>
        <p:spPr>
          <a:xfrm>
            <a:off x="8961120" y="2788920"/>
            <a:ext cx="2286000" cy="274320"/>
          </a:xfrm>
          <a:prstGeom prst="rect">
            <a:avLst/>
          </a:prstGeom>
          <a:noFill/>
        </p:spPr>
        <p:txBody>
          <a:bodyPr wrap="square">
            <a:spAutoFit/>
          </a:bodyPr>
          <a:lstStyle/>
          <a:p>
            <a:pPr algn="ctr"/>
            <a:r>
              <a:rPr sz="1000" b="0" i="0">
                <a:solidFill>
                  <a:srgbClr val="64748B"/>
                </a:solidFill>
                <a:latin typeface="Plus Jakarta Sans"/>
              </a:rPr>
              <a:t>Verified Migrations</a:t>
            </a:r>
          </a:p>
        </p:txBody>
      </p:sp>
      <p:sp>
        <p:nvSpPr>
          <p:cNvPr id="26" name="Rounded Rectangle 25"/>
          <p:cNvSpPr/>
          <p:nvPr/>
        </p:nvSpPr>
        <p:spPr>
          <a:xfrm>
            <a:off x="6400800" y="3474720"/>
            <a:ext cx="2286000" cy="10972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611880"/>
            <a:ext cx="2286000" cy="548640"/>
          </a:xfrm>
          <a:prstGeom prst="rect">
            <a:avLst/>
          </a:prstGeom>
          <a:noFill/>
        </p:spPr>
        <p:txBody>
          <a:bodyPr wrap="square">
            <a:spAutoFit/>
          </a:bodyPr>
          <a:lstStyle/>
          <a:p>
            <a:pPr algn="ctr"/>
            <a:r>
              <a:rPr sz="2800" b="1" i="0">
                <a:solidFill>
                  <a:srgbClr val="34D399"/>
                </a:solidFill>
                <a:latin typeface="Outfit"/>
              </a:rPr>
              <a:t>10</a:t>
            </a:r>
          </a:p>
        </p:txBody>
      </p:sp>
      <p:sp>
        <p:nvSpPr>
          <p:cNvPr id="28" name="TextBox 27"/>
          <p:cNvSpPr txBox="1"/>
          <p:nvPr/>
        </p:nvSpPr>
        <p:spPr>
          <a:xfrm>
            <a:off x="6400800" y="4160520"/>
            <a:ext cx="2286000" cy="274320"/>
          </a:xfrm>
          <a:prstGeom prst="rect">
            <a:avLst/>
          </a:prstGeom>
          <a:noFill/>
        </p:spPr>
        <p:txBody>
          <a:bodyPr wrap="square">
            <a:spAutoFit/>
          </a:bodyPr>
          <a:lstStyle/>
          <a:p>
            <a:pPr algn="ctr"/>
            <a:r>
              <a:rPr sz="1000" b="0" i="0">
                <a:solidFill>
                  <a:srgbClr val="64748B"/>
                </a:solidFill>
                <a:latin typeface="Plus Jakarta Sans"/>
              </a:rPr>
              <a:t>API Domain Routers</a:t>
            </a:r>
          </a:p>
        </p:txBody>
      </p:sp>
      <p:sp>
        <p:nvSpPr>
          <p:cNvPr id="29" name="Rounded Rectangle 28"/>
          <p:cNvSpPr/>
          <p:nvPr/>
        </p:nvSpPr>
        <p:spPr>
          <a:xfrm>
            <a:off x="8961120" y="3474720"/>
            <a:ext cx="2286000" cy="1097280"/>
          </a:xfrm>
          <a:prstGeom prst="roundRect">
            <a:avLst/>
          </a:prstGeom>
          <a:solidFill>
            <a:srgbClr val="1E293B"/>
          </a:solidFill>
          <a:ln w="12700">
            <a:solidFill>
              <a:srgbClr val="2D3F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61120" y="3611880"/>
            <a:ext cx="2286000" cy="548640"/>
          </a:xfrm>
          <a:prstGeom prst="rect">
            <a:avLst/>
          </a:prstGeom>
          <a:noFill/>
        </p:spPr>
        <p:txBody>
          <a:bodyPr wrap="square">
            <a:spAutoFit/>
          </a:bodyPr>
          <a:lstStyle/>
          <a:p>
            <a:pPr algn="ctr"/>
            <a:r>
              <a:rPr sz="2800" b="1" i="0">
                <a:solidFill>
                  <a:srgbClr val="F59E0B"/>
                </a:solidFill>
                <a:latin typeface="Outfit"/>
              </a:rPr>
              <a:t>15/15</a:t>
            </a:r>
          </a:p>
        </p:txBody>
      </p:sp>
      <p:sp>
        <p:nvSpPr>
          <p:cNvPr id="31" name="TextBox 30"/>
          <p:cNvSpPr txBox="1"/>
          <p:nvPr/>
        </p:nvSpPr>
        <p:spPr>
          <a:xfrm>
            <a:off x="8961120" y="4160520"/>
            <a:ext cx="2286000" cy="274320"/>
          </a:xfrm>
          <a:prstGeom prst="rect">
            <a:avLst/>
          </a:prstGeom>
          <a:noFill/>
        </p:spPr>
        <p:txBody>
          <a:bodyPr wrap="square">
            <a:spAutoFit/>
          </a:bodyPr>
          <a:lstStyle/>
          <a:p>
            <a:pPr algn="ctr"/>
            <a:r>
              <a:rPr sz="1000" b="0" i="0">
                <a:solidFill>
                  <a:srgbClr val="64748B"/>
                </a:solidFill>
                <a:latin typeface="Plus Jakarta Sans"/>
              </a:rPr>
              <a:t>Test Suites Passing</a:t>
            </a:r>
          </a:p>
        </p:txBody>
      </p:sp>
      <p:sp>
        <p:nvSpPr>
          <p:cNvPr id="32" name="TextBox 31"/>
          <p:cNvSpPr txBox="1"/>
          <p:nvPr/>
        </p:nvSpPr>
        <p:spPr>
          <a:xfrm>
            <a:off x="6400800" y="4937760"/>
            <a:ext cx="5029200" cy="1371600"/>
          </a:xfrm>
          <a:prstGeom prst="rect">
            <a:avLst/>
          </a:prstGeom>
          <a:noFill/>
        </p:spPr>
        <p:txBody>
          <a:bodyPr wrap="square">
            <a:spAutoFit/>
          </a:bodyPr>
          <a:lstStyle/>
          <a:p>
            <a:pPr>
              <a:spcBef>
                <a:spcPts val="600"/>
              </a:spcBef>
              <a:spcAft>
                <a:spcPts val="400"/>
              </a:spcAft>
            </a:pPr>
            <a:r>
              <a:rPr sz="800">
                <a:solidFill>
                  <a:srgbClr val="10B981"/>
                </a:solidFill>
                <a:latin typeface="Plus Jakarta Sans"/>
              </a:rPr>
              <a:t>● </a:t>
            </a:r>
            <a:r>
              <a:rPr sz="1100">
                <a:solidFill>
                  <a:srgbClr val="94A3B8"/>
                </a:solidFill>
                <a:latin typeface="Plus Jakarta Sans"/>
              </a:rPr>
              <a:t>Docker Compose full-stack orchestration</a:t>
            </a:r>
          </a:p>
          <a:p>
            <a:pPr>
              <a:spcBef>
                <a:spcPts val="600"/>
              </a:spcBef>
              <a:spcAft>
                <a:spcPts val="400"/>
              </a:spcAft>
            </a:pPr>
            <a:r>
              <a:rPr sz="800">
                <a:solidFill>
                  <a:srgbClr val="10B981"/>
                </a:solidFill>
                <a:latin typeface="Plus Jakarta Sans"/>
              </a:rPr>
              <a:t>● </a:t>
            </a:r>
            <a:r>
              <a:rPr sz="1100">
                <a:solidFill>
                  <a:srgbClr val="94A3B8"/>
                </a:solidFill>
                <a:latin typeface="Plus Jakarta Sans"/>
              </a:rPr>
              <a:t>NIST PBKDF2-HMAC-SHA256 auth &amp; JWT</a:t>
            </a:r>
          </a:p>
          <a:p>
            <a:pPr>
              <a:spcBef>
                <a:spcPts val="600"/>
              </a:spcBef>
              <a:spcAft>
                <a:spcPts val="400"/>
              </a:spcAft>
            </a:pPr>
            <a:r>
              <a:rPr sz="800">
                <a:solidFill>
                  <a:srgbClr val="10B981"/>
                </a:solidFill>
                <a:latin typeface="Plus Jakarta Sans"/>
              </a:rPr>
              <a:t>● </a:t>
            </a:r>
            <a:r>
              <a:rPr sz="1100">
                <a:solidFill>
                  <a:srgbClr val="94A3B8"/>
                </a:solidFill>
                <a:latin typeface="Plus Jakarta Sans"/>
              </a:rPr>
              <a:t>Multi-tenant RLS isolation per farmer</a:t>
            </a:r>
          </a:p>
          <a:p>
            <a:pPr>
              <a:spcBef>
                <a:spcPts val="600"/>
              </a:spcBef>
              <a:spcAft>
                <a:spcPts val="400"/>
              </a:spcAft>
            </a:pPr>
            <a:r>
              <a:rPr sz="800">
                <a:solidFill>
                  <a:srgbClr val="10B981"/>
                </a:solidFill>
                <a:latin typeface="Plus Jakarta Sans"/>
              </a:rPr>
              <a:t>● </a:t>
            </a:r>
            <a:r>
              <a:rPr sz="1100">
                <a:solidFill>
                  <a:srgbClr val="94A3B8"/>
                </a:solidFill>
                <a:latin typeface="Plus Jakarta Sans"/>
              </a:rPr>
              <a:t>Production deployed on Vercel (frontend)</a:t>
            </a:r>
          </a:p>
          <a:p>
            <a:pPr>
              <a:spcBef>
                <a:spcPts val="600"/>
              </a:spcBef>
              <a:spcAft>
                <a:spcPts val="400"/>
              </a:spcAft>
            </a:pPr>
            <a:r>
              <a:rPr sz="800">
                <a:solidFill>
                  <a:srgbClr val="10B981"/>
                </a:solidFill>
                <a:latin typeface="Plus Jakarta Sans"/>
              </a:rPr>
              <a:t>● </a:t>
            </a:r>
            <a:r>
              <a:rPr sz="1100">
                <a:solidFill>
                  <a:srgbClr val="94A3B8"/>
                </a:solidFill>
                <a:latin typeface="Plus Jakarta Sans"/>
              </a:rPr>
              <a:t>Pipeline orchestrator with deduplication</a:t>
            </a:r>
          </a:p>
        </p:txBody>
      </p:sp>
      <p:sp>
        <p:nvSpPr>
          <p:cNvPr id="33" name="TextBox 32"/>
          <p:cNvSpPr txBox="1"/>
          <p:nvPr/>
        </p:nvSpPr>
        <p:spPr>
          <a:xfrm>
            <a:off x="731520" y="6263640"/>
            <a:ext cx="5486400" cy="320040"/>
          </a:xfrm>
          <a:prstGeom prst="rect">
            <a:avLst/>
          </a:prstGeom>
          <a:noFill/>
        </p:spPr>
        <p:txBody>
          <a:bodyPr wrap="square">
            <a:spAutoFit/>
          </a:bodyPr>
          <a:lstStyle/>
          <a:p>
            <a:pPr algn="l"/>
            <a:r>
              <a:rPr sz="900" b="0" i="0">
                <a:solidFill>
                  <a:srgbClr val="10B981"/>
                </a:solidFill>
                <a:latin typeface="JetBrains Mono"/>
              </a:rPr>
              <a:t>GitHub: nikhillakra2007-tech/yuva-energy</a:t>
            </a:r>
          </a:p>
        </p:txBody>
      </p:sp>
      <p:sp>
        <p:nvSpPr>
          <p:cNvPr id="34" name="TextBox 33"/>
          <p:cNvSpPr txBox="1"/>
          <p:nvPr/>
        </p:nvSpPr>
        <p:spPr>
          <a:xfrm>
            <a:off x="6400800" y="6263640"/>
            <a:ext cx="5029200" cy="320040"/>
          </a:xfrm>
          <a:prstGeom prst="rect">
            <a:avLst/>
          </a:prstGeom>
          <a:noFill/>
        </p:spPr>
        <p:txBody>
          <a:bodyPr wrap="square">
            <a:spAutoFit/>
          </a:bodyPr>
          <a:lstStyle/>
          <a:p>
            <a:pPr algn="r"/>
            <a:r>
              <a:rPr sz="900" b="0" i="0">
                <a:solidFill>
                  <a:srgbClr val="64748B"/>
                </a:solidFill>
                <a:latin typeface="Plus Jakarta Sans"/>
              </a:rPr>
              <a:t>15/15 backend test suites passing — documented in README</a:t>
            </a:r>
          </a:p>
        </p:txBody>
      </p:sp>
      <p:sp>
        <p:nvSpPr>
          <p:cNvPr id="35" name="TextBox 34"/>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4572000" cy="320040"/>
          </a:xfrm>
          <a:prstGeom prst="rect">
            <a:avLst/>
          </a:prstGeom>
          <a:noFill/>
        </p:spPr>
        <p:txBody>
          <a:bodyPr wrap="square">
            <a:spAutoFit/>
          </a:bodyPr>
          <a:lstStyle/>
          <a:p>
            <a:pPr algn="l"/>
            <a:r>
              <a:rPr sz="1100" b="1" i="0">
                <a:solidFill>
                  <a:srgbClr val="10B981"/>
                </a:solidFill>
                <a:latin typeface="Outfit"/>
              </a:rPr>
              <a:t>IMPACT &amp; FUTURE</a:t>
            </a:r>
          </a:p>
        </p:txBody>
      </p:sp>
      <p:sp>
        <p:nvSpPr>
          <p:cNvPr id="3" name="TextBox 2"/>
          <p:cNvSpPr txBox="1"/>
          <p:nvPr/>
        </p:nvSpPr>
        <p:spPr>
          <a:xfrm>
            <a:off x="731520" y="822960"/>
            <a:ext cx="10058400" cy="640080"/>
          </a:xfrm>
          <a:prstGeom prst="rect">
            <a:avLst/>
          </a:prstGeom>
          <a:noFill/>
        </p:spPr>
        <p:txBody>
          <a:bodyPr wrap="square">
            <a:spAutoFit/>
          </a:bodyPr>
          <a:lstStyle/>
          <a:p>
            <a:r>
              <a:rPr sz="2800" b="1" i="0">
                <a:solidFill>
                  <a:srgbClr val="F1F5F9"/>
                </a:solidFill>
                <a:latin typeface="Outfit"/>
              </a:rPr>
              <a:t>Toward </a:t>
            </a:r>
            <a:r>
              <a:rPr sz="2800" b="1" i="0">
                <a:solidFill>
                  <a:srgbClr val="34D399"/>
                </a:solidFill>
                <a:latin typeface="Outfit"/>
              </a:rPr>
              <a:t>autonomous</a:t>
            </a:r>
            <a:r>
              <a:rPr sz="2800" b="1" i="0">
                <a:solidFill>
                  <a:srgbClr val="F1F5F9"/>
                </a:solidFill>
                <a:latin typeface="Outfit"/>
              </a:rPr>
              <a:t>, </a:t>
            </a:r>
            <a:r>
              <a:rPr sz="2800" b="1" i="0">
                <a:solidFill>
                  <a:srgbClr val="F59E0B"/>
                </a:solidFill>
                <a:latin typeface="Outfit"/>
              </a:rPr>
              <a:t>sustainable</a:t>
            </a:r>
            <a:r>
              <a:rPr sz="2800" b="1" i="0">
                <a:solidFill>
                  <a:srgbClr val="F1F5F9"/>
                </a:solidFill>
                <a:latin typeface="Outfit"/>
              </a:rPr>
              <a:t> irrigation.</a:t>
            </a:r>
          </a:p>
        </p:txBody>
      </p:sp>
      <p:sp>
        <p:nvSpPr>
          <p:cNvPr id="4" name="Rounded Rectangle 3"/>
          <p:cNvSpPr/>
          <p:nvPr/>
        </p:nvSpPr>
        <p:spPr>
          <a:xfrm>
            <a:off x="731520" y="1645920"/>
            <a:ext cx="3474720" cy="18288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3474720" cy="457200"/>
          </a:xfrm>
          <a:prstGeom prst="rect">
            <a:avLst/>
          </a:prstGeom>
          <a:noFill/>
        </p:spPr>
        <p:txBody>
          <a:bodyPr wrap="square">
            <a:spAutoFit/>
          </a:bodyPr>
          <a:lstStyle/>
          <a:p>
            <a:pPr algn="ctr"/>
            <a:r>
              <a:rPr sz="2400" b="0" i="0">
                <a:solidFill>
                  <a:srgbClr val="F1F5F9"/>
                </a:solidFill>
                <a:latin typeface="Outfit"/>
              </a:rPr>
              <a:t>💧</a:t>
            </a:r>
          </a:p>
        </p:txBody>
      </p:sp>
      <p:sp>
        <p:nvSpPr>
          <p:cNvPr id="6" name="TextBox 5"/>
          <p:cNvSpPr txBox="1"/>
          <p:nvPr/>
        </p:nvSpPr>
        <p:spPr>
          <a:xfrm>
            <a:off x="731520" y="2148840"/>
            <a:ext cx="3474720" cy="320040"/>
          </a:xfrm>
          <a:prstGeom prst="rect">
            <a:avLst/>
          </a:prstGeom>
          <a:noFill/>
        </p:spPr>
        <p:txBody>
          <a:bodyPr wrap="square">
            <a:spAutoFit/>
          </a:bodyPr>
          <a:lstStyle/>
          <a:p>
            <a:pPr algn="ctr"/>
            <a:r>
              <a:rPr sz="1400" b="1" i="0">
                <a:solidFill>
                  <a:srgbClr val="38BDF8"/>
                </a:solidFill>
                <a:latin typeface="Outfit"/>
              </a:rPr>
              <a:t>Water</a:t>
            </a:r>
          </a:p>
        </p:txBody>
      </p:sp>
      <p:sp>
        <p:nvSpPr>
          <p:cNvPr id="7" name="TextBox 6"/>
          <p:cNvSpPr txBox="1"/>
          <p:nvPr/>
        </p:nvSpPr>
        <p:spPr>
          <a:xfrm>
            <a:off x="1005840" y="2514600"/>
            <a:ext cx="2926080" cy="822960"/>
          </a:xfrm>
          <a:prstGeom prst="rect">
            <a:avLst/>
          </a:prstGeom>
          <a:noFill/>
        </p:spPr>
        <p:txBody>
          <a:bodyPr wrap="square">
            <a:spAutoFit/>
          </a:bodyPr>
          <a:lstStyle/>
          <a:p>
            <a:pPr algn="ctr"/>
            <a:r>
              <a:rPr sz="1000" b="0" i="0">
                <a:solidFill>
                  <a:srgbClr val="94A3B8"/>
                </a:solidFill>
                <a:latin typeface="Plus Jakarta Sans"/>
              </a:rPr>
              <a:t>More informed irrigation decisions.
Better visibility into root-zone depletion and crop stress.</a:t>
            </a:r>
          </a:p>
        </p:txBody>
      </p:sp>
      <p:sp>
        <p:nvSpPr>
          <p:cNvPr id="8" name="Rounded Rectangle 7"/>
          <p:cNvSpPr/>
          <p:nvPr/>
        </p:nvSpPr>
        <p:spPr>
          <a:xfrm>
            <a:off x="4480559" y="1645920"/>
            <a:ext cx="3474720" cy="182880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59" y="1737360"/>
            <a:ext cx="3474720" cy="457200"/>
          </a:xfrm>
          <a:prstGeom prst="rect">
            <a:avLst/>
          </a:prstGeom>
          <a:noFill/>
        </p:spPr>
        <p:txBody>
          <a:bodyPr wrap="square">
            <a:spAutoFit/>
          </a:bodyPr>
          <a:lstStyle/>
          <a:p>
            <a:pPr algn="ctr"/>
            <a:r>
              <a:rPr sz="2400" b="0" i="0">
                <a:solidFill>
                  <a:srgbClr val="F1F5F9"/>
                </a:solidFill>
                <a:latin typeface="Outfit"/>
              </a:rPr>
              <a:t>☀️</a:t>
            </a:r>
          </a:p>
        </p:txBody>
      </p:sp>
      <p:sp>
        <p:nvSpPr>
          <p:cNvPr id="10" name="TextBox 9"/>
          <p:cNvSpPr txBox="1"/>
          <p:nvPr/>
        </p:nvSpPr>
        <p:spPr>
          <a:xfrm>
            <a:off x="4480559" y="2148840"/>
            <a:ext cx="3474720" cy="320040"/>
          </a:xfrm>
          <a:prstGeom prst="rect">
            <a:avLst/>
          </a:prstGeom>
          <a:noFill/>
        </p:spPr>
        <p:txBody>
          <a:bodyPr wrap="square">
            <a:spAutoFit/>
          </a:bodyPr>
          <a:lstStyle/>
          <a:p>
            <a:pPr algn="ctr"/>
            <a:r>
              <a:rPr sz="1400" b="1" i="0">
                <a:solidFill>
                  <a:srgbClr val="F59E0B"/>
                </a:solidFill>
                <a:latin typeface="Outfit"/>
              </a:rPr>
              <a:t>Energy</a:t>
            </a:r>
          </a:p>
        </p:txBody>
      </p:sp>
      <p:sp>
        <p:nvSpPr>
          <p:cNvPr id="11" name="TextBox 10"/>
          <p:cNvSpPr txBox="1"/>
          <p:nvPr/>
        </p:nvSpPr>
        <p:spPr>
          <a:xfrm>
            <a:off x="4754879" y="2514600"/>
            <a:ext cx="2926080" cy="822960"/>
          </a:xfrm>
          <a:prstGeom prst="rect">
            <a:avLst/>
          </a:prstGeom>
          <a:noFill/>
        </p:spPr>
        <p:txBody>
          <a:bodyPr wrap="square">
            <a:spAutoFit/>
          </a:bodyPr>
          <a:lstStyle/>
          <a:p>
            <a:pPr algn="ctr"/>
            <a:r>
              <a:rPr sz="1000" b="0" i="0">
                <a:solidFill>
                  <a:srgbClr val="94A3B8"/>
                </a:solidFill>
                <a:latin typeface="Plus Jakarta Sans"/>
              </a:rPr>
              <a:t>Greater alignment between irrigation timing and solar availability.
Designed to reduce reliance on expensive pumping.</a:t>
            </a:r>
          </a:p>
        </p:txBody>
      </p:sp>
      <p:sp>
        <p:nvSpPr>
          <p:cNvPr id="12" name="Rounded Rectangle 11"/>
          <p:cNvSpPr/>
          <p:nvPr/>
        </p:nvSpPr>
        <p:spPr>
          <a:xfrm>
            <a:off x="8229598" y="1645920"/>
            <a:ext cx="3474720" cy="182880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8" y="1737360"/>
            <a:ext cx="3474720" cy="457200"/>
          </a:xfrm>
          <a:prstGeom prst="rect">
            <a:avLst/>
          </a:prstGeom>
          <a:noFill/>
        </p:spPr>
        <p:txBody>
          <a:bodyPr wrap="square">
            <a:spAutoFit/>
          </a:bodyPr>
          <a:lstStyle/>
          <a:p>
            <a:pPr algn="ctr"/>
            <a:r>
              <a:rPr sz="2400" b="0" i="0">
                <a:solidFill>
                  <a:srgbClr val="F1F5F9"/>
                </a:solidFill>
                <a:latin typeface="Outfit"/>
              </a:rPr>
              <a:t>👨‍🌾</a:t>
            </a:r>
          </a:p>
        </p:txBody>
      </p:sp>
      <p:sp>
        <p:nvSpPr>
          <p:cNvPr id="14" name="TextBox 13"/>
          <p:cNvSpPr txBox="1"/>
          <p:nvPr/>
        </p:nvSpPr>
        <p:spPr>
          <a:xfrm>
            <a:off x="8229598" y="2148840"/>
            <a:ext cx="3474720" cy="320040"/>
          </a:xfrm>
          <a:prstGeom prst="rect">
            <a:avLst/>
          </a:prstGeom>
          <a:noFill/>
        </p:spPr>
        <p:txBody>
          <a:bodyPr wrap="square">
            <a:spAutoFit/>
          </a:bodyPr>
          <a:lstStyle/>
          <a:p>
            <a:pPr algn="ctr"/>
            <a:r>
              <a:rPr sz="1400" b="1" i="0">
                <a:solidFill>
                  <a:srgbClr val="34D399"/>
                </a:solidFill>
                <a:latin typeface="Outfit"/>
              </a:rPr>
              <a:t>Farmer</a:t>
            </a:r>
          </a:p>
        </p:txBody>
      </p:sp>
      <p:sp>
        <p:nvSpPr>
          <p:cNvPr id="15" name="TextBox 14"/>
          <p:cNvSpPr txBox="1"/>
          <p:nvPr/>
        </p:nvSpPr>
        <p:spPr>
          <a:xfrm>
            <a:off x="8503918" y="2514600"/>
            <a:ext cx="2926080" cy="822960"/>
          </a:xfrm>
          <a:prstGeom prst="rect">
            <a:avLst/>
          </a:prstGeom>
          <a:noFill/>
        </p:spPr>
        <p:txBody>
          <a:bodyPr wrap="square">
            <a:spAutoFit/>
          </a:bodyPr>
          <a:lstStyle/>
          <a:p>
            <a:pPr algn="ctr"/>
            <a:r>
              <a:rPr sz="1000" b="0" i="0">
                <a:solidFill>
                  <a:srgbClr val="94A3B8"/>
                </a:solidFill>
                <a:latin typeface="Plus Jakarta Sans"/>
              </a:rPr>
              <a:t>Actionable, explainable recommendations in Hindi/English.
Traceable decisions that build trust.</a:t>
            </a:r>
          </a:p>
        </p:txBody>
      </p:sp>
      <p:sp>
        <p:nvSpPr>
          <p:cNvPr id="16" name="Rounded Rectangle 15"/>
          <p:cNvSpPr/>
          <p:nvPr/>
        </p:nvSpPr>
        <p:spPr>
          <a:xfrm>
            <a:off x="731520" y="3749039"/>
            <a:ext cx="5303520" cy="1828800"/>
          </a:xfrm>
          <a:prstGeom prst="roundRect">
            <a:avLst/>
          </a:prstGeom>
          <a:solidFill>
            <a:srgbClr val="0D2B1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858767"/>
            <a:ext cx="4754880" cy="320040"/>
          </a:xfrm>
          <a:prstGeom prst="rect">
            <a:avLst/>
          </a:prstGeom>
          <a:noFill/>
        </p:spPr>
        <p:txBody>
          <a:bodyPr wrap="square">
            <a:spAutoFit/>
          </a:bodyPr>
          <a:lstStyle/>
          <a:p>
            <a:pPr algn="l"/>
            <a:r>
              <a:rPr sz="1300" b="1" i="0">
                <a:solidFill>
                  <a:srgbClr val="34D399"/>
                </a:solidFill>
                <a:latin typeface="Outfit"/>
              </a:rPr>
              <a:t>✅  NOW — Working Prototype</a:t>
            </a:r>
          </a:p>
        </p:txBody>
      </p:sp>
      <p:sp>
        <p:nvSpPr>
          <p:cNvPr id="18" name="TextBox 17"/>
          <p:cNvSpPr txBox="1"/>
          <p:nvPr/>
        </p:nvSpPr>
        <p:spPr>
          <a:xfrm>
            <a:off x="1188720" y="4206239"/>
            <a:ext cx="4572000" cy="1280160"/>
          </a:xfrm>
          <a:prstGeom prst="rect">
            <a:avLst/>
          </a:prstGeom>
          <a:noFill/>
        </p:spPr>
        <p:txBody>
          <a:bodyPr wrap="square">
            <a:spAutoFit/>
          </a:bodyPr>
          <a:lstStyle/>
          <a:p>
            <a:pPr>
              <a:spcBef>
                <a:spcPts val="300"/>
              </a:spcBef>
            </a:pPr>
            <a:r>
              <a:rPr sz="1100" b="0" i="0">
                <a:solidFill>
                  <a:srgbClr val="94A3B8"/>
                </a:solidFill>
                <a:latin typeface="Plus Jakarta Sans"/>
              </a:rPr>
              <a:t>→ Full-stack platform deployed live</a:t>
            </a:r>
          </a:p>
          <a:p>
            <a:pPr>
              <a:spcBef>
                <a:spcPts val="300"/>
              </a:spcBef>
            </a:pPr>
            <a:r>
              <a:rPr sz="1100" b="0" i="0">
                <a:solidFill>
                  <a:srgbClr val="94A3B8"/>
                </a:solidFill>
                <a:latin typeface="Plus Jakarta Sans"/>
              </a:rPr>
              <a:t>→ FAO-56 physics engine verified</a:t>
            </a:r>
          </a:p>
          <a:p>
            <a:pPr>
              <a:spcBef>
                <a:spcPts val="300"/>
              </a:spcBef>
            </a:pPr>
            <a:r>
              <a:rPr sz="1100" b="0" i="0">
                <a:solidFill>
                  <a:srgbClr val="94A3B8"/>
                </a:solidFill>
                <a:latin typeface="Plus Jakarta Sans"/>
              </a:rPr>
              <a:t>→ 15/15 test suites passing</a:t>
            </a:r>
          </a:p>
          <a:p>
            <a:pPr>
              <a:spcBef>
                <a:spcPts val="300"/>
              </a:spcBef>
            </a:pPr>
            <a:r>
              <a:rPr sz="1100" b="0" i="0">
                <a:solidFill>
                  <a:srgbClr val="94A3B8"/>
                </a:solidFill>
                <a:latin typeface="Plus Jakarta Sans"/>
              </a:rPr>
              <a:t>→ 4-state benchmark profiles</a:t>
            </a:r>
          </a:p>
          <a:p>
            <a:pPr>
              <a:spcBef>
                <a:spcPts val="300"/>
              </a:spcBef>
            </a:pPr>
            <a:r>
              <a:rPr sz="1100" b="0" i="0">
                <a:solidFill>
                  <a:srgbClr val="94A3B8"/>
                </a:solidFill>
                <a:latin typeface="Plus Jakarta Sans"/>
              </a:rPr>
              <a:t>→ Interactive simulation engine</a:t>
            </a:r>
          </a:p>
        </p:txBody>
      </p:sp>
      <p:sp>
        <p:nvSpPr>
          <p:cNvPr id="19" name="Rounded Rectangle 18"/>
          <p:cNvSpPr/>
          <p:nvPr/>
        </p:nvSpPr>
        <p:spPr>
          <a:xfrm>
            <a:off x="6400800" y="3749039"/>
            <a:ext cx="5303520" cy="1828800"/>
          </a:xfrm>
          <a:prstGeom prst="roundRect">
            <a:avLst/>
          </a:prstGeom>
          <a:solidFill>
            <a:srgbClr val="1A1A0A"/>
          </a:solidFill>
          <a:ln w="127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858767"/>
            <a:ext cx="4754880" cy="320040"/>
          </a:xfrm>
          <a:prstGeom prst="rect">
            <a:avLst/>
          </a:prstGeom>
          <a:noFill/>
        </p:spPr>
        <p:txBody>
          <a:bodyPr wrap="square">
            <a:spAutoFit/>
          </a:bodyPr>
          <a:lstStyle/>
          <a:p>
            <a:pPr algn="l"/>
            <a:r>
              <a:rPr sz="1300" b="1" i="0">
                <a:solidFill>
                  <a:srgbClr val="F59E0B"/>
                </a:solidFill>
                <a:latin typeface="Outfit"/>
              </a:rPr>
              <a:t>🔜  NEXT — Validation &amp; Expansion</a:t>
            </a:r>
          </a:p>
        </p:txBody>
      </p:sp>
      <p:sp>
        <p:nvSpPr>
          <p:cNvPr id="21" name="TextBox 20"/>
          <p:cNvSpPr txBox="1"/>
          <p:nvPr/>
        </p:nvSpPr>
        <p:spPr>
          <a:xfrm>
            <a:off x="6858000" y="4206239"/>
            <a:ext cx="4572000" cy="1280160"/>
          </a:xfrm>
          <a:prstGeom prst="rect">
            <a:avLst/>
          </a:prstGeom>
          <a:noFill/>
        </p:spPr>
        <p:txBody>
          <a:bodyPr wrap="square">
            <a:spAutoFit/>
          </a:bodyPr>
          <a:lstStyle/>
          <a:p>
            <a:pPr>
              <a:spcBef>
                <a:spcPts val="300"/>
              </a:spcBef>
            </a:pPr>
            <a:r>
              <a:rPr sz="1100" b="0" i="0">
                <a:solidFill>
                  <a:srgbClr val="94A3B8"/>
                </a:solidFill>
                <a:latin typeface="Plus Jakarta Sans"/>
              </a:rPr>
              <a:t>→ Real-world field validation</a:t>
            </a:r>
          </a:p>
          <a:p>
            <a:pPr>
              <a:spcBef>
                <a:spcPts val="300"/>
              </a:spcBef>
            </a:pPr>
            <a:r>
              <a:rPr sz="1100" b="0" i="0">
                <a:solidFill>
                  <a:srgbClr val="94A3B8"/>
                </a:solidFill>
                <a:latin typeface="Plus Jakarta Sans"/>
              </a:rPr>
              <a:t>→ Localized agronomic models</a:t>
            </a:r>
          </a:p>
          <a:p>
            <a:pPr>
              <a:spcBef>
                <a:spcPts val="300"/>
              </a:spcBef>
            </a:pPr>
            <a:r>
              <a:rPr sz="1100" b="0" i="0">
                <a:solidFill>
                  <a:srgbClr val="94A3B8"/>
                </a:solidFill>
                <a:latin typeface="Plus Jakarta Sans"/>
              </a:rPr>
              <a:t>→ Expanded region/crop coverage</a:t>
            </a:r>
          </a:p>
          <a:p>
            <a:pPr>
              <a:spcBef>
                <a:spcPts val="300"/>
              </a:spcBef>
            </a:pPr>
            <a:r>
              <a:rPr sz="1100" b="0" i="0">
                <a:solidFill>
                  <a:srgbClr val="94A3B8"/>
                </a:solidFill>
                <a:latin typeface="Plus Jakarta Sans"/>
              </a:rPr>
              <a:t>→ Stronger live data integration</a:t>
            </a:r>
          </a:p>
          <a:p>
            <a:pPr>
              <a:spcBef>
                <a:spcPts val="300"/>
              </a:spcBef>
            </a:pPr>
            <a:r>
              <a:rPr sz="1100" b="0" i="0">
                <a:solidFill>
                  <a:srgbClr val="94A3B8"/>
                </a:solidFill>
                <a:latin typeface="Plus Jakarta Sans"/>
              </a:rPr>
              <a:t>→ Progressive irrigation autonomy</a:t>
            </a:r>
          </a:p>
        </p:txBody>
      </p:sp>
      <p:sp>
        <p:nvSpPr>
          <p:cNvPr id="22" name="Rectangle 21"/>
          <p:cNvSpPr/>
          <p:nvPr/>
        </p:nvSpPr>
        <p:spPr>
          <a:xfrm>
            <a:off x="5394960" y="5760720"/>
            <a:ext cx="1371600" cy="381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28800" y="5852160"/>
            <a:ext cx="8503920" cy="365760"/>
          </a:xfrm>
          <a:prstGeom prst="rect">
            <a:avLst/>
          </a:prstGeom>
          <a:noFill/>
        </p:spPr>
        <p:txBody>
          <a:bodyPr wrap="square">
            <a:spAutoFit/>
          </a:bodyPr>
          <a:lstStyle/>
          <a:p>
            <a:pPr algn="ctr"/>
            <a:r>
              <a:rPr sz="2200" b="1" i="0">
                <a:solidFill>
                  <a:srgbClr val="F1F5F9"/>
                </a:solidFill>
                <a:latin typeface="Outfit"/>
              </a:rPr>
              <a:t>KISAN </a:t>
            </a:r>
            <a:r>
              <a:rPr sz="2200" b="1" i="0">
                <a:solidFill>
                  <a:srgbClr val="F59E0B"/>
                </a:solidFill>
                <a:latin typeface="Outfit"/>
              </a:rPr>
              <a:t>URJA</a:t>
            </a:r>
            <a:r>
              <a:rPr sz="1400" b="0" i="0">
                <a:solidFill>
                  <a:srgbClr val="64748B"/>
                </a:solidFill>
                <a:latin typeface="Outfit"/>
              </a:rPr>
              <a:t>   ·   </a:t>
            </a:r>
            <a:r>
              <a:rPr sz="1200" b="0" i="0">
                <a:solidFill>
                  <a:srgbClr val="10B981"/>
                </a:solidFill>
                <a:latin typeface="JetBrains Mono"/>
              </a:rPr>
              <a:t>kisanurja.vercel.app</a:t>
            </a:r>
          </a:p>
        </p:txBody>
      </p:sp>
      <p:sp>
        <p:nvSpPr>
          <p:cNvPr id="24" name="TextBox 23"/>
          <p:cNvSpPr txBox="1"/>
          <p:nvPr/>
        </p:nvSpPr>
        <p:spPr>
          <a:xfrm>
            <a:off x="10789920" y="274320"/>
            <a:ext cx="1188720" cy="365760"/>
          </a:xfrm>
          <a:prstGeom prst="rect">
            <a:avLst/>
          </a:prstGeom>
          <a:noFill/>
        </p:spPr>
        <p:txBody>
          <a:bodyPr wrap="square">
            <a:spAutoFit/>
          </a:bodyPr>
          <a:lstStyle/>
          <a:p>
            <a:pPr algn="r"/>
            <a:r>
              <a:rPr sz="1000" b="0" i="0">
                <a:solidFill>
                  <a:srgbClr val="64748B"/>
                </a:solidFill>
                <a:latin typeface="JetBrains Mono"/>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